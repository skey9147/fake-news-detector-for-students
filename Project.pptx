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12" r:id="rId4"/>
  </p:sldMasterIdLst>
  <p:notesMasterIdLst>
    <p:notesMasterId r:id="rId17"/>
  </p:notesMasterIdLst>
  <p:sldIdLst>
    <p:sldId id="256" r:id="rId5"/>
    <p:sldId id="2146847054" r:id="rId6"/>
    <p:sldId id="262" r:id="rId7"/>
    <p:sldId id="263" r:id="rId8"/>
    <p:sldId id="265" r:id="rId9"/>
    <p:sldId id="266" r:id="rId10"/>
    <p:sldId id="267" r:id="rId11"/>
    <p:sldId id="268" r:id="rId12"/>
    <p:sldId id="2146847055" r:id="rId13"/>
    <p:sldId id="269" r:id="rId14"/>
    <p:sldId id="2146847056" r:id="rId15"/>
    <p:sldId id="259" r:id="rId1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42BA97"/>
    <a:srgbClr val="8E6C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85BE263C-DBD7-4A20-BB59-AAB30ACAA65A}" styleName="Medium Style 3 - Accent 2">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2"/>
          </a:solidFill>
        </a:fill>
      </a:tcStyle>
    </a:lastCol>
    <a:firstCol>
      <a:tcTxStyle b="on">
        <a:fontRef idx="minor">
          <a:scrgbClr r="0" g="0" b="0"/>
        </a:fontRef>
        <a:schemeClr val="lt1"/>
      </a:tcTxStyle>
      <a:tcStyle>
        <a:tcBdr/>
        <a:fill>
          <a:solidFill>
            <a:schemeClr val="accent2"/>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2"/>
          </a:solidFill>
        </a:fill>
      </a:tcStyle>
    </a:firstRow>
  </a:tblStyle>
  <a:tblStyle styleId="{EB9631B5-78F2-41C9-869B-9F39066F8104}" styleName="Medium Style 3 - Accent 4">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4"/>
          </a:solidFill>
        </a:fill>
      </a:tcStyle>
    </a:lastCol>
    <a:firstCol>
      <a:tcTxStyle b="on">
        <a:fontRef idx="minor">
          <a:scrgbClr r="0" g="0" b="0"/>
        </a:fontRef>
        <a:schemeClr val="lt1"/>
      </a:tcTxStyle>
      <a:tcStyle>
        <a:tcBdr/>
        <a:fill>
          <a:solidFill>
            <a:schemeClr val="accent4"/>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90" d="100"/>
          <a:sy n="90" d="100"/>
        </p:scale>
        <p:origin x="370" y="6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presProps" Target="presProps.xml"/><Relationship Id="rId3" Type="http://schemas.openxmlformats.org/officeDocument/2006/relationships/customXml" Target="../customXml/item3.xml"/><Relationship Id="rId21" Type="http://schemas.openxmlformats.org/officeDocument/2006/relationships/tableStyles" Target="tableStyle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notesMaster" Target="notesMasters/notesMaster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slide" Target="slides/slide11.xml"/><Relationship Id="rId10" Type="http://schemas.openxmlformats.org/officeDocument/2006/relationships/slide" Target="slides/slide6.xml"/><Relationship Id="rId19"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6256A78-79A6-408F-8148-4F87BB81602D}" type="datetimeFigureOut">
              <a:rPr lang="en-IN" smtClean="0"/>
              <a:t>25-06-2026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7E254F1-4415-47BF-9E91-C5D4B9A33350}" type="slidenum">
              <a:rPr lang="en-IN" smtClean="0"/>
              <a:t>‹#›</a:t>
            </a:fld>
            <a:endParaRPr lang="en-IN"/>
          </a:p>
        </p:txBody>
      </p:sp>
    </p:spTree>
    <p:extLst>
      <p:ext uri="{BB962C8B-B14F-4D97-AF65-F5344CB8AC3E}">
        <p14:creationId xmlns:p14="http://schemas.microsoft.com/office/powerpoint/2010/main" val="53800842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17E254F1-4415-47BF-9E91-C5D4B9A33350}" type="slidenum">
              <a:rPr lang="en-IN" smtClean="0"/>
              <a:t>7</a:t>
            </a:fld>
            <a:endParaRPr lang="en-IN"/>
          </a:p>
        </p:txBody>
      </p:sp>
    </p:spTree>
    <p:extLst>
      <p:ext uri="{BB962C8B-B14F-4D97-AF65-F5344CB8AC3E}">
        <p14:creationId xmlns:p14="http://schemas.microsoft.com/office/powerpoint/2010/main" val="361295949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p:nvPr/>
        </p:nvSpPr>
        <p:spPr>
          <a:xfrm>
            <a:off x="446534" y="3085764"/>
            <a:ext cx="11298932" cy="3338149"/>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ctrTitle"/>
          </p:nvPr>
        </p:nvSpPr>
        <p:spPr>
          <a:xfrm>
            <a:off x="581191" y="1020431"/>
            <a:ext cx="10993549" cy="1475013"/>
          </a:xfrm>
          <a:effectLst/>
        </p:spPr>
        <p:txBody>
          <a:bodyPr anchor="b">
            <a:normAutofit/>
          </a:bodyPr>
          <a:lstStyle>
            <a:lvl1pPr>
              <a:defRPr sz="3600">
                <a:solidFill>
                  <a:schemeClr val="tx1">
                    <a:lumMod val="75000"/>
                    <a:lumOff val="25000"/>
                  </a:schemeClr>
                </a:solidFill>
              </a:defRPr>
            </a:lvl1pPr>
          </a:lstStyle>
          <a:p>
            <a:r>
              <a:rPr lang="en-US"/>
              <a:t>Click to edit Master title style</a:t>
            </a:r>
          </a:p>
        </p:txBody>
      </p:sp>
      <p:sp>
        <p:nvSpPr>
          <p:cNvPr id="3" name="Subtitle 2"/>
          <p:cNvSpPr>
            <a:spLocks noGrp="1"/>
          </p:cNvSpPr>
          <p:nvPr>
            <p:ph type="subTitle" idx="1"/>
          </p:nvPr>
        </p:nvSpPr>
        <p:spPr>
          <a:xfrm>
            <a:off x="581194" y="2495445"/>
            <a:ext cx="10993546" cy="590321"/>
          </a:xfrm>
        </p:spPr>
        <p:txBody>
          <a:bodyPr anchor="t">
            <a:normAutofit/>
          </a:bodyPr>
          <a:lstStyle>
            <a:lvl1pPr marL="0" indent="0" algn="l">
              <a:buNone/>
              <a:defRPr sz="1600" cap="all">
                <a:solidFill>
                  <a:schemeClr val="accent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8" name="Date Placeholder 7">
            <a:extLst>
              <a:ext uri="{FF2B5EF4-FFF2-40B4-BE49-F238E27FC236}">
                <a16:creationId xmlns:a16="http://schemas.microsoft.com/office/drawing/2014/main" id="{7FA0ACE7-29A8-47D3-A7D9-257B711D8023}"/>
              </a:ext>
            </a:extLst>
          </p:cNvPr>
          <p:cNvSpPr>
            <a:spLocks noGrp="1"/>
          </p:cNvSpPr>
          <p:nvPr>
            <p:ph type="dt" sz="half" idx="10"/>
          </p:nvPr>
        </p:nvSpPr>
        <p:spPr/>
        <p:txBody>
          <a:bodyPr/>
          <a:lstStyle/>
          <a:p>
            <a:fld id="{ED291B17-9318-49DB-B28B-6E5994AE9581}" type="datetime1">
              <a:rPr lang="en-US" smtClean="0"/>
              <a:t>6/25/2026</a:t>
            </a:fld>
            <a:endParaRPr lang="en-US"/>
          </a:p>
        </p:txBody>
      </p:sp>
      <p:sp>
        <p:nvSpPr>
          <p:cNvPr id="9" name="Footer Placeholder 8">
            <a:extLst>
              <a:ext uri="{FF2B5EF4-FFF2-40B4-BE49-F238E27FC236}">
                <a16:creationId xmlns:a16="http://schemas.microsoft.com/office/drawing/2014/main" id="{DEC604B9-52E9-4810-8359-47206518D038}"/>
              </a:ext>
            </a:extLst>
          </p:cNvPr>
          <p:cNvSpPr>
            <a:spLocks noGrp="1"/>
          </p:cNvSpPr>
          <p:nvPr>
            <p:ph type="ftr" sz="quarter" idx="11"/>
          </p:nvPr>
        </p:nvSpPr>
        <p:spPr>
          <a:xfrm>
            <a:off x="581192" y="6423914"/>
            <a:ext cx="6917210" cy="365125"/>
          </a:xfrm>
          <a:prstGeom prst="rect">
            <a:avLst/>
          </a:prstGeom>
        </p:spPr>
        <p:txBody>
          <a:bodyPr/>
          <a:lstStyle/>
          <a:p>
            <a:endParaRPr lang="en-US"/>
          </a:p>
        </p:txBody>
      </p:sp>
      <p:sp>
        <p:nvSpPr>
          <p:cNvPr id="10" name="Slide Number Placeholder 9">
            <a:extLst>
              <a:ext uri="{FF2B5EF4-FFF2-40B4-BE49-F238E27FC236}">
                <a16:creationId xmlns:a16="http://schemas.microsoft.com/office/drawing/2014/main" id="{5898A89F-CA25-400F-B05A-AECBF2517E4F}"/>
              </a:ext>
            </a:extLst>
          </p:cNvPr>
          <p:cNvSpPr>
            <a:spLocks noGrp="1"/>
          </p:cNvSpPr>
          <p:nvPr>
            <p:ph type="sldNum" sz="quarter" idx="12"/>
          </p:nvPr>
        </p:nvSpPr>
        <p:spPr/>
        <p:txBody>
          <a:bodyPr/>
          <a:lstStyle/>
          <a:p>
            <a:fld id="{3A98EE3D-8CD1-4C3F-BD1C-C98C9596463C}" type="slidenum">
              <a:rPr lang="en-US" smtClean="0"/>
              <a:t>‹#›</a:t>
            </a:fld>
            <a:endParaRPr lang="en-US"/>
          </a:p>
        </p:txBody>
      </p:sp>
    </p:spTree>
    <p:extLst>
      <p:ext uri="{BB962C8B-B14F-4D97-AF65-F5344CB8AC3E}">
        <p14:creationId xmlns:p14="http://schemas.microsoft.com/office/powerpoint/2010/main" val="49001758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581192" y="702156"/>
            <a:ext cx="11029616" cy="530296"/>
          </a:xfrm>
        </p:spPr>
        <p:txBody>
          <a:bodyPr/>
          <a:lstStyle/>
          <a:p>
            <a:r>
              <a:rPr lang="en-US"/>
              <a:t>Click to edit Master title style</a:t>
            </a:r>
          </a:p>
        </p:txBody>
      </p:sp>
      <p:sp>
        <p:nvSpPr>
          <p:cNvPr id="3" name="Content Placeholder 2"/>
          <p:cNvSpPr>
            <a:spLocks noGrp="1"/>
          </p:cNvSpPr>
          <p:nvPr>
            <p:ph idx="1"/>
          </p:nvPr>
        </p:nvSpPr>
        <p:spPr>
          <a:xfrm>
            <a:off x="581192" y="1302026"/>
            <a:ext cx="11029615" cy="467332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Date Placeholder 7">
            <a:extLst>
              <a:ext uri="{FF2B5EF4-FFF2-40B4-BE49-F238E27FC236}">
                <a16:creationId xmlns:a16="http://schemas.microsoft.com/office/drawing/2014/main" id="{770E6237-3456-439F-802D-3BA93FC7E3E5}"/>
              </a:ext>
            </a:extLst>
          </p:cNvPr>
          <p:cNvSpPr>
            <a:spLocks noGrp="1"/>
          </p:cNvSpPr>
          <p:nvPr>
            <p:ph type="dt" sz="half" idx="10"/>
          </p:nvPr>
        </p:nvSpPr>
        <p:spPr/>
        <p:txBody>
          <a:bodyPr/>
          <a:lstStyle/>
          <a:p>
            <a:fld id="{78DD82B9-B8EE-4375-B6FF-88FA6ABB15D9}" type="datetime1">
              <a:rPr lang="en-US" smtClean="0"/>
              <a:t>6/25/2026</a:t>
            </a:fld>
            <a:endParaRPr lang="en-US"/>
          </a:p>
        </p:txBody>
      </p:sp>
    </p:spTree>
    <p:extLst>
      <p:ext uri="{BB962C8B-B14F-4D97-AF65-F5344CB8AC3E}">
        <p14:creationId xmlns:p14="http://schemas.microsoft.com/office/powerpoint/2010/main" val="85244341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8" name="Rectangle 7"/>
          <p:cNvSpPr>
            <a:spLocks noChangeAspect="1"/>
          </p:cNvSpPr>
          <p:nvPr/>
        </p:nvSpPr>
        <p:spPr>
          <a:xfrm>
            <a:off x="447817" y="5141974"/>
            <a:ext cx="11290860" cy="1258827"/>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3" y="2393950"/>
            <a:ext cx="11029615" cy="2147467"/>
          </a:xfrm>
        </p:spPr>
        <p:txBody>
          <a:bodyPr anchor="b">
            <a:normAutofit/>
          </a:bodyPr>
          <a:lstStyle>
            <a:lvl1pPr algn="l">
              <a:defRPr sz="3600" b="0" cap="all">
                <a:solidFill>
                  <a:schemeClr val="tx1">
                    <a:lumMod val="75000"/>
                    <a:lumOff val="25000"/>
                  </a:schemeClr>
                </a:solidFill>
              </a:defRPr>
            </a:lvl1pPr>
          </a:lstStyle>
          <a:p>
            <a:r>
              <a:rPr lang="en-US"/>
              <a:t>Click to edit Master title style</a:t>
            </a:r>
          </a:p>
        </p:txBody>
      </p:sp>
      <p:sp>
        <p:nvSpPr>
          <p:cNvPr id="3" name="Text Placeholder 2"/>
          <p:cNvSpPr>
            <a:spLocks noGrp="1"/>
          </p:cNvSpPr>
          <p:nvPr>
            <p:ph type="body" idx="1"/>
          </p:nvPr>
        </p:nvSpPr>
        <p:spPr>
          <a:xfrm>
            <a:off x="581192" y="4541417"/>
            <a:ext cx="11029615" cy="600556"/>
          </a:xfrm>
        </p:spPr>
        <p:txBody>
          <a:bodyPr anchor="t">
            <a:normAutofit/>
          </a:bodyPr>
          <a:lstStyle>
            <a:lvl1pPr marL="0" indent="0" algn="l">
              <a:buNone/>
              <a:defRPr sz="1800" cap="all">
                <a:solidFill>
                  <a:schemeClr val="accent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7" name="Date Placeholder 6">
            <a:extLst>
              <a:ext uri="{FF2B5EF4-FFF2-40B4-BE49-F238E27FC236}">
                <a16:creationId xmlns:a16="http://schemas.microsoft.com/office/drawing/2014/main" id="{61582016-5696-4A93-887F-BBB3B9002FE5}"/>
              </a:ext>
            </a:extLst>
          </p:cNvPr>
          <p:cNvSpPr>
            <a:spLocks noGrp="1"/>
          </p:cNvSpPr>
          <p:nvPr>
            <p:ph type="dt" sz="half" idx="10"/>
          </p:nvPr>
        </p:nvSpPr>
        <p:spPr/>
        <p:txBody>
          <a:bodyPr/>
          <a:lstStyle/>
          <a:p>
            <a:fld id="{B2497495-0637-405E-AE64-5CC7506D51F5}" type="datetime1">
              <a:rPr lang="en-US" smtClean="0"/>
              <a:t>6/25/2026</a:t>
            </a:fld>
            <a:endParaRPr lang="en-US"/>
          </a:p>
        </p:txBody>
      </p:sp>
      <p:sp>
        <p:nvSpPr>
          <p:cNvPr id="9" name="Footer Placeholder 8">
            <a:extLst>
              <a:ext uri="{FF2B5EF4-FFF2-40B4-BE49-F238E27FC236}">
                <a16:creationId xmlns:a16="http://schemas.microsoft.com/office/drawing/2014/main" id="{857CFCD5-1192-4E18-8A8F-29E153B44DA4}"/>
              </a:ext>
            </a:extLst>
          </p:cNvPr>
          <p:cNvSpPr>
            <a:spLocks noGrp="1"/>
          </p:cNvSpPr>
          <p:nvPr>
            <p:ph type="ftr" sz="quarter" idx="11"/>
          </p:nvPr>
        </p:nvSpPr>
        <p:spPr>
          <a:xfrm>
            <a:off x="581192" y="6423914"/>
            <a:ext cx="6917210" cy="365125"/>
          </a:xfrm>
          <a:prstGeom prst="rect">
            <a:avLst/>
          </a:prstGeom>
        </p:spPr>
        <p:txBody>
          <a:bodyPr/>
          <a:lstStyle/>
          <a:p>
            <a:endParaRPr lang="en-US"/>
          </a:p>
        </p:txBody>
      </p:sp>
      <p:sp>
        <p:nvSpPr>
          <p:cNvPr id="10" name="Slide Number Placeholder 9">
            <a:extLst>
              <a:ext uri="{FF2B5EF4-FFF2-40B4-BE49-F238E27FC236}">
                <a16:creationId xmlns:a16="http://schemas.microsoft.com/office/drawing/2014/main" id="{E39A109E-5018-4794-92B3-FD5E5BCD95E8}"/>
              </a:ext>
            </a:extLst>
          </p:cNvPr>
          <p:cNvSpPr>
            <a:spLocks noGrp="1"/>
          </p:cNvSpPr>
          <p:nvPr>
            <p:ph type="sldNum" sz="quarter" idx="12"/>
          </p:nvPr>
        </p:nvSpPr>
        <p:spPr/>
        <p:txBody>
          <a:bodyPr/>
          <a:lstStyle/>
          <a:p>
            <a:fld id="{3A98EE3D-8CD1-4C3F-BD1C-C98C9596463C}" type="slidenum">
              <a:rPr lang="en-US" smtClean="0"/>
              <a:t>‹#›</a:t>
            </a:fld>
            <a:endParaRPr lang="en-US"/>
          </a:p>
        </p:txBody>
      </p:sp>
    </p:spTree>
    <p:extLst>
      <p:ext uri="{BB962C8B-B14F-4D97-AF65-F5344CB8AC3E}">
        <p14:creationId xmlns:p14="http://schemas.microsoft.com/office/powerpoint/2010/main" val="36668097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581193" y="729658"/>
            <a:ext cx="11029616" cy="492855"/>
          </a:xfrm>
        </p:spPr>
        <p:txBody>
          <a:bodyPr/>
          <a:lstStyle/>
          <a:p>
            <a:r>
              <a:rPr lang="en-US"/>
              <a:t>Click to edit Master title style</a:t>
            </a:r>
          </a:p>
        </p:txBody>
      </p:sp>
      <p:sp>
        <p:nvSpPr>
          <p:cNvPr id="3" name="Content Placeholder 2"/>
          <p:cNvSpPr>
            <a:spLocks noGrp="1"/>
          </p:cNvSpPr>
          <p:nvPr>
            <p:ph sz="half" idx="1"/>
          </p:nvPr>
        </p:nvSpPr>
        <p:spPr>
          <a:xfrm>
            <a:off x="581193" y="1391479"/>
            <a:ext cx="5194767" cy="4469572"/>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416039" y="1391479"/>
            <a:ext cx="5194769" cy="4469572"/>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7BFFD690-9426-415D-8B65-26881E07B2D4}" type="datetime1">
              <a:rPr lang="en-US" smtClean="0"/>
              <a:t>6/25/2026</a:t>
            </a:fld>
            <a:endParaRPr lang="en-US"/>
          </a:p>
        </p:txBody>
      </p:sp>
      <p:sp>
        <p:nvSpPr>
          <p:cNvPr id="6" name="Footer Placeholder 5"/>
          <p:cNvSpPr>
            <a:spLocks noGrp="1"/>
          </p:cNvSpPr>
          <p:nvPr>
            <p:ph type="ftr" sz="quarter" idx="11"/>
          </p:nvPr>
        </p:nvSpPr>
        <p:spPr>
          <a:xfrm>
            <a:off x="581192" y="6423914"/>
            <a:ext cx="6917210" cy="365125"/>
          </a:xfrm>
          <a:prstGeom prst="rect">
            <a:avLst/>
          </a:prstGeom>
        </p:spPr>
        <p:txBody>
          <a:bodyPr/>
          <a:lstStyle/>
          <a:p>
            <a:endParaRPr lang="en-US"/>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a:p>
        </p:txBody>
      </p:sp>
    </p:spTree>
    <p:extLst>
      <p:ext uri="{BB962C8B-B14F-4D97-AF65-F5344CB8AC3E}">
        <p14:creationId xmlns:p14="http://schemas.microsoft.com/office/powerpoint/2010/main" val="248332321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12" name="Title 1"/>
          <p:cNvSpPr>
            <a:spLocks noGrp="1"/>
          </p:cNvSpPr>
          <p:nvPr>
            <p:ph type="title"/>
          </p:nvPr>
        </p:nvSpPr>
        <p:spPr>
          <a:xfrm>
            <a:off x="581193" y="729658"/>
            <a:ext cx="11029616" cy="988332"/>
          </a:xfrm>
        </p:spPr>
        <p:txBody>
          <a:bodyPr/>
          <a:lstStyle/>
          <a:p>
            <a:r>
              <a:rPr lang="en-US"/>
              <a:t>Click to edit Master title style</a:t>
            </a:r>
          </a:p>
        </p:txBody>
      </p:sp>
      <p:sp>
        <p:nvSpPr>
          <p:cNvPr id="3" name="Text Placeholder 2"/>
          <p:cNvSpPr>
            <a:spLocks noGrp="1"/>
          </p:cNvSpPr>
          <p:nvPr>
            <p:ph type="body" idx="1"/>
          </p:nvPr>
        </p:nvSpPr>
        <p:spPr>
          <a:xfrm>
            <a:off x="581191" y="2250891"/>
            <a:ext cx="5194769" cy="557784"/>
          </a:xfrm>
        </p:spPr>
        <p:txBody>
          <a:bodyPr anchor="ctr">
            <a:noAutofit/>
          </a:bodyPr>
          <a:lstStyle>
            <a:lvl1pPr marL="0" indent="0">
              <a:buNone/>
              <a:defRPr sz="2000" b="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581194" y="2926052"/>
            <a:ext cx="5194766" cy="293499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416039" y="2250892"/>
            <a:ext cx="5194770" cy="553373"/>
          </a:xfrm>
        </p:spPr>
        <p:txBody>
          <a:bodyPr anchor="ctr">
            <a:noAutofit/>
          </a:bodyPr>
          <a:lstStyle>
            <a:lvl1pPr marL="0" marR="0" indent="0" algn="l" defTabSz="457200" rtl="0" eaLnBrk="1" fontAlgn="auto" latinLnBrk="0" hangingPunct="1">
              <a:lnSpc>
                <a:spcPct val="100000"/>
              </a:lnSpc>
              <a:spcBef>
                <a:spcPct val="20000"/>
              </a:spcBef>
              <a:spcAft>
                <a:spcPts val="600"/>
              </a:spcAft>
              <a:buClr>
                <a:schemeClr val="accent1"/>
              </a:buClr>
              <a:buSzPct val="92000"/>
              <a:buFont typeface="Wingdings 2" panose="05020102010507070707" pitchFamily="18" charset="2"/>
              <a:buNone/>
              <a:tabLst/>
              <a:defRPr sz="2000" b="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marR="0" lvl="0" indent="0" algn="l" defTabSz="457200" rtl="0" eaLnBrk="1" fontAlgn="auto" latinLnBrk="0" hangingPunct="1">
              <a:lnSpc>
                <a:spcPct val="100000"/>
              </a:lnSpc>
              <a:spcBef>
                <a:spcPct val="20000"/>
              </a:spcBef>
              <a:spcAft>
                <a:spcPts val="600"/>
              </a:spcAft>
              <a:buClr>
                <a:schemeClr val="accent1"/>
              </a:buClr>
              <a:buSzPct val="92000"/>
              <a:buFont typeface="Wingdings 2" panose="05020102010507070707" pitchFamily="18" charset="2"/>
              <a:buNone/>
              <a:tabLst/>
              <a:defRPr/>
            </a:pPr>
            <a:r>
              <a:rPr lang="en-US"/>
              <a:t>Click to edit Master text styles</a:t>
            </a:r>
          </a:p>
        </p:txBody>
      </p:sp>
      <p:sp>
        <p:nvSpPr>
          <p:cNvPr id="6" name="Content Placeholder 5"/>
          <p:cNvSpPr>
            <a:spLocks noGrp="1"/>
          </p:cNvSpPr>
          <p:nvPr>
            <p:ph sz="quarter" idx="4"/>
          </p:nvPr>
        </p:nvSpPr>
        <p:spPr>
          <a:xfrm>
            <a:off x="6416037" y="2926052"/>
            <a:ext cx="5194771" cy="293499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04C4989A-474C-40DE-95B9-011C28B71673}" type="datetime1">
              <a:rPr lang="en-US" smtClean="0"/>
              <a:t>6/25/2026</a:t>
            </a:fld>
            <a:endParaRPr lang="en-US"/>
          </a:p>
        </p:txBody>
      </p:sp>
      <p:sp>
        <p:nvSpPr>
          <p:cNvPr id="8" name="Footer Placeholder 7"/>
          <p:cNvSpPr>
            <a:spLocks noGrp="1"/>
          </p:cNvSpPr>
          <p:nvPr>
            <p:ph type="ftr" sz="quarter" idx="11"/>
          </p:nvPr>
        </p:nvSpPr>
        <p:spPr>
          <a:xfrm>
            <a:off x="581192" y="6423914"/>
            <a:ext cx="6917210" cy="365125"/>
          </a:xfrm>
          <a:prstGeom prst="rect">
            <a:avLst/>
          </a:prstGeom>
        </p:spPr>
        <p:txBody>
          <a:bodyPr/>
          <a:lstStyle/>
          <a:p>
            <a:endParaRPr lang="en-US"/>
          </a:p>
        </p:txBody>
      </p:sp>
      <p:sp>
        <p:nvSpPr>
          <p:cNvPr id="9" name="Slide Number Placeholder 8"/>
          <p:cNvSpPr>
            <a:spLocks noGrp="1"/>
          </p:cNvSpPr>
          <p:nvPr>
            <p:ph type="sldNum" sz="quarter" idx="12"/>
          </p:nvPr>
        </p:nvSpPr>
        <p:spPr/>
        <p:txBody>
          <a:bodyPr/>
          <a:lstStyle/>
          <a:p>
            <a:fld id="{3A98EE3D-8CD1-4C3F-BD1C-C98C9596463C}" type="slidenum">
              <a:rPr lang="en-US" smtClean="0"/>
              <a:t>‹#›</a:t>
            </a:fld>
            <a:endParaRPr lang="en-US"/>
          </a:p>
        </p:txBody>
      </p:sp>
    </p:spTree>
    <p:extLst>
      <p:ext uri="{BB962C8B-B14F-4D97-AF65-F5344CB8AC3E}">
        <p14:creationId xmlns:p14="http://schemas.microsoft.com/office/powerpoint/2010/main" val="174804658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8" name="Title 1"/>
          <p:cNvSpPr>
            <a:spLocks noGrp="1"/>
          </p:cNvSpPr>
          <p:nvPr>
            <p:ph type="title"/>
          </p:nvPr>
        </p:nvSpPr>
        <p:spPr>
          <a:xfrm>
            <a:off x="575894" y="729658"/>
            <a:ext cx="11029616" cy="592246"/>
          </a:xfrm>
        </p:spPr>
        <p:txBody>
          <a:bodyPr/>
          <a:lstStyle/>
          <a:p>
            <a:r>
              <a:rPr lang="en-US"/>
              <a:t>Click to edit Master title style</a:t>
            </a:r>
          </a:p>
        </p:txBody>
      </p:sp>
      <p:sp>
        <p:nvSpPr>
          <p:cNvPr id="3" name="Date Placeholder 2"/>
          <p:cNvSpPr>
            <a:spLocks noGrp="1"/>
          </p:cNvSpPr>
          <p:nvPr>
            <p:ph type="dt" sz="half" idx="10"/>
          </p:nvPr>
        </p:nvSpPr>
        <p:spPr/>
        <p:txBody>
          <a:bodyPr/>
          <a:lstStyle/>
          <a:p>
            <a:fld id="{5DB4ED54-5B5E-4A04-93D3-5772E3CE3818}" type="datetime1">
              <a:rPr lang="en-US" smtClean="0"/>
              <a:t>6/25/2026</a:t>
            </a:fld>
            <a:endParaRPr lang="en-US"/>
          </a:p>
        </p:txBody>
      </p:sp>
      <p:sp>
        <p:nvSpPr>
          <p:cNvPr id="4" name="Footer Placeholder 3"/>
          <p:cNvSpPr>
            <a:spLocks noGrp="1"/>
          </p:cNvSpPr>
          <p:nvPr>
            <p:ph type="ftr" sz="quarter" idx="11"/>
          </p:nvPr>
        </p:nvSpPr>
        <p:spPr>
          <a:xfrm>
            <a:off x="581192" y="6423914"/>
            <a:ext cx="6917210" cy="365125"/>
          </a:xfrm>
          <a:prstGeom prst="rect">
            <a:avLst/>
          </a:prstGeom>
        </p:spPr>
        <p:txBody>
          <a:bodyPr/>
          <a:lstStyle/>
          <a:p>
            <a:endParaRPr lang="en-US"/>
          </a:p>
        </p:txBody>
      </p:sp>
      <p:sp>
        <p:nvSpPr>
          <p:cNvPr id="5" name="Slide Number Placeholder 4"/>
          <p:cNvSpPr>
            <a:spLocks noGrp="1"/>
          </p:cNvSpPr>
          <p:nvPr>
            <p:ph type="sldNum" sz="quarter" idx="12"/>
          </p:nvPr>
        </p:nvSpPr>
        <p:spPr/>
        <p:txBody>
          <a:bodyPr/>
          <a:lstStyle/>
          <a:p>
            <a:fld id="{3A98EE3D-8CD1-4C3F-BD1C-C98C9596463C}" type="slidenum">
              <a:rPr lang="en-US" smtClean="0"/>
              <a:t>‹#›</a:t>
            </a:fld>
            <a:endParaRPr lang="en-US"/>
          </a:p>
        </p:txBody>
      </p:sp>
    </p:spTree>
    <p:extLst>
      <p:ext uri="{BB962C8B-B14F-4D97-AF65-F5344CB8AC3E}">
        <p14:creationId xmlns:p14="http://schemas.microsoft.com/office/powerpoint/2010/main" val="11293638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EDE50D6-574B-40AF-946F-D52A04ADE379}" type="datetime1">
              <a:rPr lang="en-US" smtClean="0"/>
              <a:t>6/25/2026</a:t>
            </a:fld>
            <a:endParaRPr lang="en-US"/>
          </a:p>
        </p:txBody>
      </p:sp>
      <p:sp>
        <p:nvSpPr>
          <p:cNvPr id="3" name="Footer Placeholder 2"/>
          <p:cNvSpPr>
            <a:spLocks noGrp="1"/>
          </p:cNvSpPr>
          <p:nvPr>
            <p:ph type="ftr" sz="quarter" idx="11"/>
          </p:nvPr>
        </p:nvSpPr>
        <p:spPr>
          <a:xfrm>
            <a:off x="581192" y="6423914"/>
            <a:ext cx="6917210" cy="365125"/>
          </a:xfrm>
          <a:prstGeom prst="rect">
            <a:avLst/>
          </a:prstGeom>
        </p:spPr>
        <p:txBody>
          <a:bodyPr/>
          <a:lstStyle/>
          <a:p>
            <a:endParaRPr lang="en-US"/>
          </a:p>
        </p:txBody>
      </p:sp>
      <p:sp>
        <p:nvSpPr>
          <p:cNvPr id="4" name="Slide Number Placeholder 3"/>
          <p:cNvSpPr>
            <a:spLocks noGrp="1"/>
          </p:cNvSpPr>
          <p:nvPr>
            <p:ph type="sldNum" sz="quarter" idx="12"/>
          </p:nvPr>
        </p:nvSpPr>
        <p:spPr/>
        <p:txBody>
          <a:bodyPr/>
          <a:lstStyle/>
          <a:p>
            <a:fld id="{3A98EE3D-8CD1-4C3F-BD1C-C98C9596463C}" type="slidenum">
              <a:rPr lang="en-US" smtClean="0"/>
              <a:t>‹#›</a:t>
            </a:fld>
            <a:endParaRPr lang="en-US"/>
          </a:p>
        </p:txBody>
      </p:sp>
    </p:spTree>
    <p:extLst>
      <p:ext uri="{BB962C8B-B14F-4D97-AF65-F5344CB8AC3E}">
        <p14:creationId xmlns:p14="http://schemas.microsoft.com/office/powerpoint/2010/main" val="112949497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9" name="Rectangle 8"/>
          <p:cNvSpPr>
            <a:spLocks noChangeAspect="1"/>
          </p:cNvSpPr>
          <p:nvPr/>
        </p:nvSpPr>
        <p:spPr>
          <a:xfrm>
            <a:off x="447817" y="601200"/>
            <a:ext cx="3682723" cy="5815475"/>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767857" y="933450"/>
            <a:ext cx="3031852" cy="1722419"/>
          </a:xfrm>
        </p:spPr>
        <p:txBody>
          <a:bodyPr anchor="b">
            <a:normAutofit/>
          </a:bodyPr>
          <a:lstStyle>
            <a:lvl1pPr algn="l">
              <a:defRPr sz="2400" b="0">
                <a:solidFill>
                  <a:srgbClr val="FFFFFF"/>
                </a:solidFill>
              </a:defRPr>
            </a:lvl1pPr>
          </a:lstStyle>
          <a:p>
            <a:r>
              <a:rPr lang="en-US"/>
              <a:t>Click to edit Master title style</a:t>
            </a:r>
          </a:p>
        </p:txBody>
      </p:sp>
      <p:sp>
        <p:nvSpPr>
          <p:cNvPr id="3" name="Content Placeholder 2"/>
          <p:cNvSpPr>
            <a:spLocks noGrp="1"/>
          </p:cNvSpPr>
          <p:nvPr>
            <p:ph idx="1"/>
          </p:nvPr>
        </p:nvSpPr>
        <p:spPr>
          <a:xfrm>
            <a:off x="4900928" y="1179829"/>
            <a:ext cx="6650991" cy="4658216"/>
          </a:xfrm>
        </p:spPr>
        <p:txBody>
          <a:bodyPr anchor="ctr">
            <a:normAutofit/>
          </a:bodyPr>
          <a:lstStyle>
            <a:lvl1pPr>
              <a:defRPr sz="2000">
                <a:solidFill>
                  <a:schemeClr val="tx2"/>
                </a:solidFill>
              </a:defRPr>
            </a:lvl1pPr>
            <a:lvl2pPr>
              <a:defRPr sz="1800">
                <a:solidFill>
                  <a:schemeClr val="tx2"/>
                </a:solidFill>
              </a:defRPr>
            </a:lvl2pPr>
            <a:lvl3pPr>
              <a:defRPr sz="1600">
                <a:solidFill>
                  <a:schemeClr val="tx2"/>
                </a:solidFill>
              </a:defRPr>
            </a:lvl3pPr>
            <a:lvl4pPr>
              <a:defRPr sz="1400">
                <a:solidFill>
                  <a:schemeClr val="tx2"/>
                </a:solidFill>
              </a:defRPr>
            </a:lvl4pPr>
            <a:lvl5pPr>
              <a:defRPr sz="1400">
                <a:solidFill>
                  <a:schemeClr val="tx2"/>
                </a:solidFill>
              </a:defRPr>
            </a:lvl5pPr>
            <a:lvl6pPr>
              <a:defRPr sz="1400">
                <a:solidFill>
                  <a:schemeClr val="tx2"/>
                </a:solidFill>
              </a:defRPr>
            </a:lvl6pPr>
            <a:lvl7pPr>
              <a:defRPr sz="1400">
                <a:solidFill>
                  <a:schemeClr val="tx2"/>
                </a:solidFill>
              </a:defRPr>
            </a:lvl7pPr>
            <a:lvl8pPr>
              <a:defRPr sz="1400">
                <a:solidFill>
                  <a:schemeClr val="tx2"/>
                </a:solidFill>
              </a:defRPr>
            </a:lvl8pPr>
            <a:lvl9pPr>
              <a:defRPr sz="1400">
                <a:solidFill>
                  <a:schemeClr val="tx2"/>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767857" y="2836654"/>
            <a:ext cx="3031852" cy="3001392"/>
          </a:xfrm>
        </p:spPr>
        <p:txBody>
          <a:bodyPr anchor="t">
            <a:normAutofit/>
          </a:bodyPr>
          <a:lstStyle>
            <a:lvl1pPr marL="0" indent="0" algn="l">
              <a:buNone/>
              <a:defRPr sz="1600">
                <a:solidFill>
                  <a:srgbClr val="FFFFFF"/>
                </a:solidFill>
              </a:defRPr>
            </a:lvl1pPr>
            <a:lvl2pPr marL="457200" indent="0">
              <a:buNone/>
              <a:defRPr sz="11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8" name="Date Placeholder 7">
            <a:extLst>
              <a:ext uri="{FF2B5EF4-FFF2-40B4-BE49-F238E27FC236}">
                <a16:creationId xmlns:a16="http://schemas.microsoft.com/office/drawing/2014/main" id="{0B919CC2-2A65-446F-B538-9E6249035445}"/>
              </a:ext>
            </a:extLst>
          </p:cNvPr>
          <p:cNvSpPr>
            <a:spLocks noGrp="1"/>
          </p:cNvSpPr>
          <p:nvPr>
            <p:ph type="dt" sz="half" idx="10"/>
          </p:nvPr>
        </p:nvSpPr>
        <p:spPr>
          <a:xfrm>
            <a:off x="7605951" y="6456916"/>
            <a:ext cx="2844799" cy="365125"/>
          </a:xfrm>
        </p:spPr>
        <p:txBody>
          <a:bodyPr/>
          <a:lstStyle/>
          <a:p>
            <a:fld id="{D82884F1-FFEA-405F-9602-3DCA865EDA4E}" type="datetime1">
              <a:rPr lang="en-US" smtClean="0"/>
              <a:t>6/25/2026</a:t>
            </a:fld>
            <a:endParaRPr lang="en-US"/>
          </a:p>
        </p:txBody>
      </p:sp>
      <p:sp>
        <p:nvSpPr>
          <p:cNvPr id="10" name="Footer Placeholder 9">
            <a:extLst>
              <a:ext uri="{FF2B5EF4-FFF2-40B4-BE49-F238E27FC236}">
                <a16:creationId xmlns:a16="http://schemas.microsoft.com/office/drawing/2014/main" id="{B72412AE-119E-4982-8B24-63365EFCA796}"/>
              </a:ext>
            </a:extLst>
          </p:cNvPr>
          <p:cNvSpPr>
            <a:spLocks noGrp="1"/>
          </p:cNvSpPr>
          <p:nvPr>
            <p:ph type="ftr" sz="quarter" idx="11"/>
          </p:nvPr>
        </p:nvSpPr>
        <p:spPr>
          <a:xfrm>
            <a:off x="581192" y="6452590"/>
            <a:ext cx="6917210" cy="365125"/>
          </a:xfrm>
          <a:prstGeom prst="rect">
            <a:avLst/>
          </a:prstGeom>
        </p:spPr>
        <p:txBody>
          <a:bodyPr/>
          <a:lstStyle/>
          <a:p>
            <a:endParaRPr lang="en-US"/>
          </a:p>
        </p:txBody>
      </p:sp>
      <p:sp>
        <p:nvSpPr>
          <p:cNvPr id="11" name="Slide Number Placeholder 10">
            <a:extLst>
              <a:ext uri="{FF2B5EF4-FFF2-40B4-BE49-F238E27FC236}">
                <a16:creationId xmlns:a16="http://schemas.microsoft.com/office/drawing/2014/main" id="{7FC4BB19-6AD1-45CF-9F99-00B109890FAB}"/>
              </a:ext>
            </a:extLst>
          </p:cNvPr>
          <p:cNvSpPr>
            <a:spLocks noGrp="1"/>
          </p:cNvSpPr>
          <p:nvPr>
            <p:ph type="sldNum" sz="quarter" idx="12"/>
          </p:nvPr>
        </p:nvSpPr>
        <p:spPr>
          <a:xfrm>
            <a:off x="10558300" y="6456916"/>
            <a:ext cx="1052510" cy="365125"/>
          </a:xfrm>
        </p:spPr>
        <p:txBody>
          <a:bodyPr/>
          <a:lstStyle/>
          <a:p>
            <a:fld id="{3A98EE3D-8CD1-4C3F-BD1C-C98C9596463C}" type="slidenum">
              <a:rPr lang="en-US" smtClean="0"/>
              <a:pPr/>
              <a:t>‹#›</a:t>
            </a:fld>
            <a:endParaRPr lang="en-US"/>
          </a:p>
        </p:txBody>
      </p:sp>
    </p:spTree>
    <p:extLst>
      <p:ext uri="{BB962C8B-B14F-4D97-AF65-F5344CB8AC3E}">
        <p14:creationId xmlns:p14="http://schemas.microsoft.com/office/powerpoint/2010/main" val="126176669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81193" y="4693389"/>
            <a:ext cx="11029616" cy="566738"/>
          </a:xfrm>
        </p:spPr>
        <p:txBody>
          <a:bodyPr anchor="b">
            <a:normAutofit/>
          </a:bodyPr>
          <a:lstStyle>
            <a:lvl1pPr algn="l">
              <a:defRPr sz="2400" b="0">
                <a:solidFill>
                  <a:schemeClr val="tx1">
                    <a:lumMod val="75000"/>
                    <a:lumOff val="25000"/>
                  </a:schemeClr>
                </a:solidFill>
              </a:defRPr>
            </a:lvl1pPr>
          </a:lstStyle>
          <a:p>
            <a:r>
              <a:rPr lang="en-US"/>
              <a:t>Click to edit Master title style</a:t>
            </a:r>
          </a:p>
        </p:txBody>
      </p:sp>
      <p:sp>
        <p:nvSpPr>
          <p:cNvPr id="3" name="Picture Placeholder 2"/>
          <p:cNvSpPr>
            <a:spLocks noGrp="1" noChangeAspect="1"/>
          </p:cNvSpPr>
          <p:nvPr>
            <p:ph type="pic" idx="1"/>
          </p:nvPr>
        </p:nvSpPr>
        <p:spPr>
          <a:xfrm>
            <a:off x="447817" y="641350"/>
            <a:ext cx="11290859" cy="3651249"/>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p>
        </p:txBody>
      </p:sp>
      <p:sp>
        <p:nvSpPr>
          <p:cNvPr id="4" name="Text Placeholder 3"/>
          <p:cNvSpPr>
            <a:spLocks noGrp="1"/>
          </p:cNvSpPr>
          <p:nvPr>
            <p:ph type="body" sz="half" idx="2"/>
          </p:nvPr>
        </p:nvSpPr>
        <p:spPr>
          <a:xfrm>
            <a:off x="581192" y="5260127"/>
            <a:ext cx="11029617" cy="998148"/>
          </a:xfrm>
        </p:spPr>
        <p:txBody>
          <a:bodyPr anchor="t">
            <a:normAutofit/>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7E18DB4A-8810-4A10-AD5C-D5E2C667F5B3}" type="datetime1">
              <a:rPr lang="en-US" smtClean="0"/>
              <a:t>6/25/2026</a:t>
            </a:fld>
            <a:endParaRPr lang="en-US"/>
          </a:p>
        </p:txBody>
      </p:sp>
      <p:sp>
        <p:nvSpPr>
          <p:cNvPr id="6" name="Footer Placeholder 5"/>
          <p:cNvSpPr>
            <a:spLocks noGrp="1"/>
          </p:cNvSpPr>
          <p:nvPr>
            <p:ph type="ftr" sz="quarter" idx="11"/>
          </p:nvPr>
        </p:nvSpPr>
        <p:spPr>
          <a:xfrm>
            <a:off x="581192" y="6423914"/>
            <a:ext cx="6917210" cy="365125"/>
          </a:xfrm>
          <a:prstGeom prst="rect">
            <a:avLst/>
          </a:prstGeom>
        </p:spPr>
        <p:txBody>
          <a:bodyPr/>
          <a:lstStyle/>
          <a:p>
            <a:pPr algn="l"/>
            <a:endParaRPr lang="en-US"/>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a:p>
        </p:txBody>
      </p:sp>
    </p:spTree>
    <p:extLst>
      <p:ext uri="{BB962C8B-B14F-4D97-AF65-F5344CB8AC3E}">
        <p14:creationId xmlns:p14="http://schemas.microsoft.com/office/powerpoint/2010/main" val="357328955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9" name="Title 1"/>
          <p:cNvSpPr>
            <a:spLocks noGrp="1"/>
          </p:cNvSpPr>
          <p:nvPr>
            <p:ph type="title"/>
          </p:nvPr>
        </p:nvSpPr>
        <p:spPr>
          <a:xfrm>
            <a:off x="581192" y="702156"/>
            <a:ext cx="11029616" cy="1013800"/>
          </a:xfrm>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nchor="t"/>
          <a:lstStyle>
            <a:lvl1pPr algn="l">
              <a:defRPr/>
            </a:lvl1pPr>
            <a:lvl2pPr algn="l">
              <a:defRPr/>
            </a:lvl2pPr>
            <a:lvl3pPr algn="l">
              <a:defRPr/>
            </a:lvl3pPr>
            <a:lvl4pPr algn="l">
              <a:defRPr/>
            </a:lvl4pPr>
            <a:lvl5pPr algn="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CED4963-E985-44C4-B8C4-FDD613B7C2F8}" type="datetime1">
              <a:rPr lang="en-US" smtClean="0"/>
              <a:t>6/25/2026</a:t>
            </a:fld>
            <a:endParaRPr lang="en-US"/>
          </a:p>
        </p:txBody>
      </p:sp>
      <p:sp>
        <p:nvSpPr>
          <p:cNvPr id="5" name="Footer Placeholder 4"/>
          <p:cNvSpPr>
            <a:spLocks noGrp="1"/>
          </p:cNvSpPr>
          <p:nvPr>
            <p:ph type="ftr" sz="quarter" idx="11"/>
          </p:nvPr>
        </p:nvSpPr>
        <p:spPr>
          <a:xfrm>
            <a:off x="581192" y="6423914"/>
            <a:ext cx="6917210" cy="365125"/>
          </a:xfrm>
          <a:prstGeom prst="rect">
            <a:avLst/>
          </a:prstGeom>
        </p:spPr>
        <p:txBody>
          <a:bodyPr/>
          <a:lstStyle/>
          <a:p>
            <a:endParaRPr lang="en-US"/>
          </a:p>
        </p:txBody>
      </p:sp>
      <p:sp>
        <p:nvSpPr>
          <p:cNvPr id="6" name="Slide Number Placeholder 5"/>
          <p:cNvSpPr>
            <a:spLocks noGrp="1"/>
          </p:cNvSpPr>
          <p:nvPr>
            <p:ph type="sldNum" sz="quarter" idx="12"/>
          </p:nvPr>
        </p:nvSpPr>
        <p:spPr/>
        <p:txBody>
          <a:bodyPr/>
          <a:lstStyle/>
          <a:p>
            <a:fld id="{3A98EE3D-8CD1-4C3F-BD1C-C98C9596463C}" type="slidenum">
              <a:rPr lang="en-US" smtClean="0"/>
              <a:t>‹#›</a:t>
            </a:fld>
            <a:endParaRPr lang="en-US"/>
          </a:p>
        </p:txBody>
      </p:sp>
    </p:spTree>
    <p:extLst>
      <p:ext uri="{BB962C8B-B14F-4D97-AF65-F5344CB8AC3E}">
        <p14:creationId xmlns:p14="http://schemas.microsoft.com/office/powerpoint/2010/main" val="128359114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a:spLocks noChangeAspect="1"/>
          </p:cNvSpPr>
          <p:nvPr/>
        </p:nvSpPr>
        <p:spPr>
          <a:xfrm>
            <a:off x="8058151" y="599725"/>
            <a:ext cx="3687316" cy="5816950"/>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Vertical Title 1"/>
          <p:cNvSpPr>
            <a:spLocks noGrp="1"/>
          </p:cNvSpPr>
          <p:nvPr>
            <p:ph type="title" orient="vert"/>
          </p:nvPr>
        </p:nvSpPr>
        <p:spPr>
          <a:xfrm>
            <a:off x="8204200" y="863600"/>
            <a:ext cx="3124200" cy="4807326"/>
          </a:xfrm>
        </p:spPr>
        <p:txBody>
          <a:bodyPr vert="eaVert" anchor="ctr"/>
          <a:lstStyle>
            <a:lvl1pPr>
              <a:defRPr>
                <a:solidFill>
                  <a:srgbClr val="FFFFFF"/>
                </a:solidFill>
              </a:defRPr>
            </a:lvl1pPr>
          </a:lstStyle>
          <a:p>
            <a:r>
              <a:rPr lang="en-US"/>
              <a:t>Click to edit Master title style</a:t>
            </a:r>
          </a:p>
        </p:txBody>
      </p:sp>
      <p:sp>
        <p:nvSpPr>
          <p:cNvPr id="3" name="Vertical Text Placeholder 2"/>
          <p:cNvSpPr>
            <a:spLocks noGrp="1"/>
          </p:cNvSpPr>
          <p:nvPr>
            <p:ph type="body" orient="vert" idx="1"/>
          </p:nvPr>
        </p:nvSpPr>
        <p:spPr>
          <a:xfrm>
            <a:off x="774923" y="863600"/>
            <a:ext cx="7161625" cy="4807326"/>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Rectangle 7">
            <a:extLst>
              <a:ext uri="{FF2B5EF4-FFF2-40B4-BE49-F238E27FC236}">
                <a16:creationId xmlns:a16="http://schemas.microsoft.com/office/drawing/2014/main" id="{F6423B97-A5D4-47B9-8861-73B3707A04CF}"/>
              </a:ext>
            </a:extLst>
          </p:cNvPr>
          <p:cNvSpPr/>
          <p:nvPr/>
        </p:nvSpPr>
        <p:spPr>
          <a:xfrm>
            <a:off x="446534" y="457200"/>
            <a:ext cx="3703320" cy="94997"/>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sp>
      <p:sp>
        <p:nvSpPr>
          <p:cNvPr id="9" name="Rectangle 8">
            <a:extLst>
              <a:ext uri="{FF2B5EF4-FFF2-40B4-BE49-F238E27FC236}">
                <a16:creationId xmlns:a16="http://schemas.microsoft.com/office/drawing/2014/main" id="{1AEC0421-37B4-4481-A10D-69FDF5EC7909}"/>
              </a:ext>
            </a:extLst>
          </p:cNvPr>
          <p:cNvSpPr/>
          <p:nvPr/>
        </p:nvSpPr>
        <p:spPr>
          <a:xfrm>
            <a:off x="8042147" y="453643"/>
            <a:ext cx="3703320" cy="98554"/>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9">
            <a:extLst>
              <a:ext uri="{FF2B5EF4-FFF2-40B4-BE49-F238E27FC236}">
                <a16:creationId xmlns:a16="http://schemas.microsoft.com/office/drawing/2014/main" id="{5F7265B5-9F97-4F1E-99E9-74F7B7E62337}"/>
              </a:ext>
            </a:extLst>
          </p:cNvPr>
          <p:cNvSpPr/>
          <p:nvPr/>
        </p:nvSpPr>
        <p:spPr>
          <a:xfrm>
            <a:off x="4241830" y="457200"/>
            <a:ext cx="3703320" cy="914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1" name="Date Placeholder 10">
            <a:extLst>
              <a:ext uri="{FF2B5EF4-FFF2-40B4-BE49-F238E27FC236}">
                <a16:creationId xmlns:a16="http://schemas.microsoft.com/office/drawing/2014/main" id="{5C74A470-3BD3-4F33-80E5-67E6E87FCBE7}"/>
              </a:ext>
            </a:extLst>
          </p:cNvPr>
          <p:cNvSpPr>
            <a:spLocks noGrp="1"/>
          </p:cNvSpPr>
          <p:nvPr>
            <p:ph type="dt" sz="half" idx="10"/>
          </p:nvPr>
        </p:nvSpPr>
        <p:spPr/>
        <p:txBody>
          <a:bodyPr/>
          <a:lstStyle/>
          <a:p>
            <a:fld id="{ED291B17-9318-49DB-B28B-6E5994AE9581}" type="datetime1">
              <a:rPr lang="en-US" smtClean="0"/>
              <a:t>6/25/2026</a:t>
            </a:fld>
            <a:endParaRPr lang="en-US"/>
          </a:p>
        </p:txBody>
      </p:sp>
      <p:sp>
        <p:nvSpPr>
          <p:cNvPr id="12" name="Footer Placeholder 11">
            <a:extLst>
              <a:ext uri="{FF2B5EF4-FFF2-40B4-BE49-F238E27FC236}">
                <a16:creationId xmlns:a16="http://schemas.microsoft.com/office/drawing/2014/main" id="{9A3A30BA-DB50-4D7D-BCDE-17D20FB354DF}"/>
              </a:ext>
            </a:extLst>
          </p:cNvPr>
          <p:cNvSpPr>
            <a:spLocks noGrp="1"/>
          </p:cNvSpPr>
          <p:nvPr>
            <p:ph type="ftr" sz="quarter" idx="11"/>
          </p:nvPr>
        </p:nvSpPr>
        <p:spPr>
          <a:xfrm>
            <a:off x="581192" y="6423914"/>
            <a:ext cx="6917210" cy="365125"/>
          </a:xfrm>
          <a:prstGeom prst="rect">
            <a:avLst/>
          </a:prstGeom>
        </p:spPr>
        <p:txBody>
          <a:bodyPr/>
          <a:lstStyle/>
          <a:p>
            <a:endParaRPr lang="en-US"/>
          </a:p>
        </p:txBody>
      </p:sp>
      <p:sp>
        <p:nvSpPr>
          <p:cNvPr id="13" name="Slide Number Placeholder 12">
            <a:extLst>
              <a:ext uri="{FF2B5EF4-FFF2-40B4-BE49-F238E27FC236}">
                <a16:creationId xmlns:a16="http://schemas.microsoft.com/office/drawing/2014/main" id="{76FF9E58-C0B2-436B-A21C-DB45A00D6515}"/>
              </a:ext>
            </a:extLst>
          </p:cNvPr>
          <p:cNvSpPr>
            <a:spLocks noGrp="1"/>
          </p:cNvSpPr>
          <p:nvPr>
            <p:ph type="sldNum" sz="quarter" idx="12"/>
          </p:nvPr>
        </p:nvSpPr>
        <p:spPr/>
        <p:txBody>
          <a:bodyPr/>
          <a:lstStyle/>
          <a:p>
            <a:fld id="{3A98EE3D-8CD1-4C3F-BD1C-C98C9596463C}" type="slidenum">
              <a:rPr lang="en-US" smtClean="0"/>
              <a:t>‹#›</a:t>
            </a:fld>
            <a:endParaRPr lang="en-US"/>
          </a:p>
        </p:txBody>
      </p:sp>
    </p:spTree>
    <p:extLst>
      <p:ext uri="{BB962C8B-B14F-4D97-AF65-F5344CB8AC3E}">
        <p14:creationId xmlns:p14="http://schemas.microsoft.com/office/powerpoint/2010/main" val="338884962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81192" y="705124"/>
            <a:ext cx="11029616" cy="557146"/>
          </a:xfrm>
          <a:prstGeom prst="rect">
            <a:avLst/>
          </a:prstGeom>
        </p:spPr>
        <p:txBody>
          <a:bodyPr vert="horz" lIns="91440" tIns="45720" rIns="91440" bIns="45720" rtlCol="0" anchor="b">
            <a:normAutofit/>
          </a:bodyPr>
          <a:lstStyle/>
          <a:p>
            <a:r>
              <a:rPr lang="en-US"/>
              <a:t>Click to edit Master title style</a:t>
            </a:r>
          </a:p>
        </p:txBody>
      </p:sp>
      <p:sp>
        <p:nvSpPr>
          <p:cNvPr id="3" name="Text Placeholder 2"/>
          <p:cNvSpPr>
            <a:spLocks noGrp="1"/>
          </p:cNvSpPr>
          <p:nvPr>
            <p:ph type="body" idx="1"/>
          </p:nvPr>
        </p:nvSpPr>
        <p:spPr>
          <a:xfrm>
            <a:off x="581192" y="1415198"/>
            <a:ext cx="11029616" cy="4572852"/>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7605951" y="6423914"/>
            <a:ext cx="2844799" cy="365125"/>
          </a:xfrm>
          <a:prstGeom prst="rect">
            <a:avLst/>
          </a:prstGeom>
        </p:spPr>
        <p:txBody>
          <a:bodyPr vert="horz" lIns="91440" tIns="45720" rIns="91440" bIns="45720" rtlCol="0" anchor="ctr"/>
          <a:lstStyle>
            <a:lvl1pPr algn="r">
              <a:defRPr sz="900">
                <a:solidFill>
                  <a:schemeClr val="tx1">
                    <a:lumMod val="75000"/>
                    <a:lumOff val="25000"/>
                  </a:schemeClr>
                </a:solidFill>
              </a:defRPr>
            </a:lvl1pPr>
          </a:lstStyle>
          <a:p>
            <a:fld id="{ED291B17-9318-49DB-B28B-6E5994AE9581}" type="datetime1">
              <a:rPr lang="en-US" smtClean="0"/>
              <a:t>6/25/2026</a:t>
            </a:fld>
            <a:endParaRPr lang="en-US"/>
          </a:p>
        </p:txBody>
      </p:sp>
      <p:sp>
        <p:nvSpPr>
          <p:cNvPr id="6" name="Slide Number Placeholder 5"/>
          <p:cNvSpPr>
            <a:spLocks noGrp="1"/>
          </p:cNvSpPr>
          <p:nvPr>
            <p:ph type="sldNum" sz="quarter" idx="4"/>
          </p:nvPr>
        </p:nvSpPr>
        <p:spPr>
          <a:xfrm>
            <a:off x="10558300" y="6423914"/>
            <a:ext cx="1052510" cy="365125"/>
          </a:xfrm>
          <a:prstGeom prst="rect">
            <a:avLst/>
          </a:prstGeom>
        </p:spPr>
        <p:txBody>
          <a:bodyPr vert="horz" lIns="91440" tIns="45720" rIns="91440" bIns="45720" rtlCol="0" anchor="ctr"/>
          <a:lstStyle>
            <a:lvl1pPr algn="r">
              <a:defRPr sz="900">
                <a:solidFill>
                  <a:schemeClr val="tx1">
                    <a:lumMod val="75000"/>
                    <a:lumOff val="25000"/>
                  </a:schemeClr>
                </a:solidFill>
              </a:defRPr>
            </a:lvl1pPr>
          </a:lstStyle>
          <a:p>
            <a:fld id="{3A98EE3D-8CD1-4C3F-BD1C-C98C9596463C}" type="slidenum">
              <a:rPr lang="en-US" smtClean="0"/>
              <a:t>‹#›</a:t>
            </a:fld>
            <a:endParaRPr lang="en-US"/>
          </a:p>
        </p:txBody>
      </p:sp>
      <p:sp>
        <p:nvSpPr>
          <p:cNvPr id="9" name="Rectangle 8"/>
          <p:cNvSpPr/>
          <p:nvPr/>
        </p:nvSpPr>
        <p:spPr>
          <a:xfrm>
            <a:off x="446534" y="457200"/>
            <a:ext cx="3703320" cy="94997"/>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9"/>
          <p:cNvSpPr/>
          <p:nvPr/>
        </p:nvSpPr>
        <p:spPr>
          <a:xfrm>
            <a:off x="8042147" y="453643"/>
            <a:ext cx="3703320" cy="98554"/>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a:xfrm>
            <a:off x="4241830" y="457200"/>
            <a:ext cx="3703320" cy="914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pic>
        <p:nvPicPr>
          <p:cNvPr id="8" name="Picture 7" descr="Logo&#10;&#10;Description automatically generated">
            <a:extLst>
              <a:ext uri="{FF2B5EF4-FFF2-40B4-BE49-F238E27FC236}">
                <a16:creationId xmlns:a16="http://schemas.microsoft.com/office/drawing/2014/main" id="{14A64E4D-8DED-7830-2955-1BE78C5B0655}"/>
              </a:ext>
            </a:extLst>
          </p:cNvPr>
          <p:cNvPicPr>
            <a:picLocks noChangeAspect="1"/>
          </p:cNvPicPr>
          <p:nvPr userDrawn="1"/>
        </p:nvPicPr>
        <p:blipFill>
          <a:blip r:embed="rId13"/>
          <a:stretch>
            <a:fillRect/>
          </a:stretch>
        </p:blipFill>
        <p:spPr>
          <a:xfrm>
            <a:off x="10485003" y="6437910"/>
            <a:ext cx="1125805" cy="365126"/>
          </a:xfrm>
          <a:prstGeom prst="rect">
            <a:avLst/>
          </a:prstGeom>
        </p:spPr>
      </p:pic>
    </p:spTree>
    <p:extLst>
      <p:ext uri="{BB962C8B-B14F-4D97-AF65-F5344CB8AC3E}">
        <p14:creationId xmlns:p14="http://schemas.microsoft.com/office/powerpoint/2010/main" val="3000897896"/>
      </p:ext>
    </p:extLst>
  </p:cSld>
  <p:clrMap bg1="lt1" tx1="dk1" bg2="lt2" tx2="dk2" accent1="accent1" accent2="accent2" accent3="accent3" accent4="accent4" accent5="accent5" accent6="accent6" hlink="hlink" folHlink="folHlink"/>
  <p:sldLayoutIdLst>
    <p:sldLayoutId id="2147483756" r:id="rId1"/>
    <p:sldLayoutId id="2147483757" r:id="rId2"/>
    <p:sldLayoutId id="2147483758" r:id="rId3"/>
    <p:sldLayoutId id="2147483759" r:id="rId4"/>
    <p:sldLayoutId id="2147483711" r:id="rId5"/>
    <p:sldLayoutId id="2147483760" r:id="rId6"/>
    <p:sldLayoutId id="2147483762" r:id="rId7"/>
    <p:sldLayoutId id="2147483706" r:id="rId8"/>
    <p:sldLayoutId id="2147483709" r:id="rId9"/>
    <p:sldLayoutId id="2147483707" r:id="rId10"/>
    <p:sldLayoutId id="2147483708" r:id="rId11"/>
  </p:sldLayoutIdLst>
  <p:hf sldNum="0" hdr="0" ftr="0" dt="0"/>
  <p:txStyles>
    <p:titleStyle>
      <a:lvl1pPr algn="l" defTabSz="457200" rtl="0" eaLnBrk="1" latinLnBrk="0" hangingPunct="1">
        <a:lnSpc>
          <a:spcPct val="100000"/>
        </a:lnSpc>
        <a:spcBef>
          <a:spcPct val="0"/>
        </a:spcBef>
        <a:buNone/>
        <a:defRPr sz="2800" b="0" kern="1200" cap="all">
          <a:solidFill>
            <a:schemeClr val="tx1">
              <a:lumMod val="75000"/>
              <a:lumOff val="2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06000" indent="-306000" algn="l" defTabSz="457200" rtl="0" eaLnBrk="1" latinLnBrk="0" hangingPunct="1">
        <a:lnSpc>
          <a:spcPct val="110000"/>
        </a:lnSpc>
        <a:spcBef>
          <a:spcPct val="20000"/>
        </a:spcBef>
        <a:spcAft>
          <a:spcPts val="600"/>
        </a:spcAft>
        <a:buClr>
          <a:schemeClr val="accent1"/>
        </a:buClr>
        <a:buSzPct val="92000"/>
        <a:buFont typeface="Wingdings 2" panose="05020102010507070707" pitchFamily="18" charset="2"/>
        <a:buChar char=""/>
        <a:defRPr sz="1700" kern="1200">
          <a:solidFill>
            <a:schemeClr val="tx1">
              <a:lumMod val="75000"/>
              <a:lumOff val="25000"/>
            </a:schemeClr>
          </a:solidFill>
          <a:latin typeface="+mn-lt"/>
          <a:ea typeface="+mn-ea"/>
          <a:cs typeface="+mn-cs"/>
        </a:defRPr>
      </a:lvl1pPr>
      <a:lvl2pPr marL="630000" indent="-306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400" kern="1200">
          <a:solidFill>
            <a:schemeClr val="tx1">
              <a:lumMod val="75000"/>
              <a:lumOff val="25000"/>
            </a:schemeClr>
          </a:solidFill>
          <a:latin typeface="+mn-lt"/>
          <a:ea typeface="+mn-ea"/>
          <a:cs typeface="+mn-cs"/>
        </a:defRPr>
      </a:lvl2pPr>
      <a:lvl3pPr marL="900000" indent="-270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300" kern="1200">
          <a:solidFill>
            <a:schemeClr val="tx1">
              <a:lumMod val="75000"/>
              <a:lumOff val="25000"/>
            </a:schemeClr>
          </a:solidFill>
          <a:latin typeface="+mn-lt"/>
          <a:ea typeface="+mn-ea"/>
          <a:cs typeface="+mn-cs"/>
        </a:defRPr>
      </a:lvl3pPr>
      <a:lvl4pPr marL="1242000" indent="-234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100" kern="1200">
          <a:solidFill>
            <a:schemeClr val="tx1">
              <a:lumMod val="75000"/>
              <a:lumOff val="25000"/>
            </a:schemeClr>
          </a:solidFill>
          <a:latin typeface="+mn-lt"/>
          <a:ea typeface="+mn-ea"/>
          <a:cs typeface="+mn-cs"/>
        </a:defRPr>
      </a:lvl4pPr>
      <a:lvl5pPr marL="1602000" indent="-234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100" kern="1200">
          <a:solidFill>
            <a:schemeClr val="tx1">
              <a:lumMod val="75000"/>
              <a:lumOff val="25000"/>
            </a:schemeClr>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3.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hyperlink" Target="https://huggingface.co/docs/transformers/index?utm_source=chatgpt.com" TargetMode="External"/><Relationship Id="rId7" Type="http://schemas.openxmlformats.org/officeDocument/2006/relationships/hyperlink" Target="https://github.com/Reinforz/Fake-News-detection-with-ISOT-Dataset/blob/main/Fake_News_detection.ipynb" TargetMode="External"/><Relationship Id="rId2" Type="http://schemas.openxmlformats.org/officeDocument/2006/relationships/hyperlink" Target="https://arxiv.org/abs/1810.04805?utm_source=chatgpt.com" TargetMode="External"/><Relationship Id="rId1" Type="http://schemas.openxmlformats.org/officeDocument/2006/relationships/slideLayout" Target="../slideLayouts/slideLayout2.xml"/><Relationship Id="rId6" Type="http://schemas.openxmlformats.org/officeDocument/2006/relationships/hyperlink" Target="https://colab.google/?utm_source=chatgpt.com" TargetMode="External"/><Relationship Id="rId5" Type="http://schemas.openxmlformats.org/officeDocument/2006/relationships/hyperlink" Target="https://scikit-learn.org/stable/documentation.html?utm_source=chatgpt.com" TargetMode="External"/><Relationship Id="rId4" Type="http://schemas.openxmlformats.org/officeDocument/2006/relationships/hyperlink" Target="https://pytorch.org/docs/stable/index.html?utm_source=chatgpt.com" TargetMode="Externa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A11E26-4C38-41A6-9857-11032CEECD80}"/>
              </a:ext>
            </a:extLst>
          </p:cNvPr>
          <p:cNvSpPr>
            <a:spLocks noGrp="1"/>
          </p:cNvSpPr>
          <p:nvPr>
            <p:ph type="ctrTitle"/>
          </p:nvPr>
        </p:nvSpPr>
        <p:spPr>
          <a:xfrm>
            <a:off x="1359108" y="1821635"/>
            <a:ext cx="9144000" cy="977778"/>
          </a:xfrm>
        </p:spPr>
        <p:txBody>
          <a:bodyPr/>
          <a:lstStyle/>
          <a:p>
            <a:pPr algn="ctr"/>
            <a:r>
              <a:rPr lang="en-IN" dirty="0"/>
              <a:t>Fake News Detector for Students</a:t>
            </a:r>
            <a:endParaRPr lang="en-US" b="1" dirty="0">
              <a:solidFill>
                <a:schemeClr val="accent1"/>
              </a:solidFill>
              <a:latin typeface="Arial" panose="020B0604020202020204" pitchFamily="34" charset="0"/>
              <a:cs typeface="Arial" panose="020B0604020202020204" pitchFamily="34" charset="0"/>
            </a:endParaRPr>
          </a:p>
        </p:txBody>
      </p:sp>
      <p:sp>
        <p:nvSpPr>
          <p:cNvPr id="3" name="TextBox 2"/>
          <p:cNvSpPr txBox="1"/>
          <p:nvPr/>
        </p:nvSpPr>
        <p:spPr>
          <a:xfrm>
            <a:off x="-329782" y="1034321"/>
            <a:ext cx="12726648" cy="584775"/>
          </a:xfrm>
          <a:prstGeom prst="rect">
            <a:avLst/>
          </a:prstGeom>
          <a:noFill/>
        </p:spPr>
        <p:txBody>
          <a:bodyPr wrap="square" lIns="91440" tIns="45720" rIns="91440" bIns="45720" rtlCol="0" anchor="t">
            <a:spAutoFit/>
          </a:bodyPr>
          <a:lstStyle/>
          <a:p>
            <a:pPr algn="ctr"/>
            <a:r>
              <a:rPr lang="en-US" sz="3200" b="1">
                <a:solidFill>
                  <a:schemeClr val="accent1">
                    <a:lumMod val="75000"/>
                  </a:schemeClr>
                </a:solidFill>
                <a:latin typeface="Arial"/>
                <a:cs typeface="Arial"/>
              </a:rPr>
              <a:t>CAPSTONE PROJECT</a:t>
            </a:r>
          </a:p>
        </p:txBody>
      </p:sp>
      <p:sp>
        <p:nvSpPr>
          <p:cNvPr id="4" name="TextBox 3"/>
          <p:cNvSpPr txBox="1"/>
          <p:nvPr/>
        </p:nvSpPr>
        <p:spPr>
          <a:xfrm>
            <a:off x="855133" y="3522133"/>
            <a:ext cx="11269133" cy="1938992"/>
          </a:xfrm>
          <a:prstGeom prst="rect">
            <a:avLst/>
          </a:prstGeom>
          <a:noFill/>
        </p:spPr>
        <p:txBody>
          <a:bodyPr wrap="square" lIns="91440" tIns="45720" rIns="91440" bIns="45720" rtlCol="0" anchor="t">
            <a:spAutoFit/>
          </a:bodyPr>
          <a:lstStyle/>
          <a:p>
            <a:r>
              <a:rPr lang="en-US" sz="2000" b="1" dirty="0">
                <a:solidFill>
                  <a:schemeClr val="accent1">
                    <a:lumMod val="75000"/>
                  </a:schemeClr>
                </a:solidFill>
                <a:latin typeface="Arial" pitchFamily="34" charset="0"/>
                <a:cs typeface="Arial" pitchFamily="34" charset="0"/>
              </a:rPr>
              <a:t>Presented By:</a:t>
            </a:r>
          </a:p>
          <a:p>
            <a:endParaRPr lang="en-US" sz="2000" b="1" dirty="0">
              <a:solidFill>
                <a:schemeClr val="accent1">
                  <a:lumMod val="75000"/>
                </a:schemeClr>
              </a:solidFill>
              <a:latin typeface="Arial" pitchFamily="34" charset="0"/>
              <a:cs typeface="Arial" pitchFamily="34" charset="0"/>
            </a:endParaRPr>
          </a:p>
          <a:p>
            <a:pPr marL="457200" indent="-457200">
              <a:buAutoNum type="arabicPeriod"/>
            </a:pPr>
            <a:r>
              <a:rPr lang="en-US" sz="2000" b="1" dirty="0">
                <a:solidFill>
                  <a:schemeClr val="accent1">
                    <a:lumMod val="75000"/>
                  </a:schemeClr>
                </a:solidFill>
                <a:latin typeface="Arial"/>
                <a:cs typeface="Arial"/>
              </a:rPr>
              <a:t>Student Name: Sourashis Dey</a:t>
            </a:r>
          </a:p>
          <a:p>
            <a:pPr marL="457200" indent="-457200">
              <a:buAutoNum type="arabicPeriod"/>
            </a:pPr>
            <a:r>
              <a:rPr lang="en-US" sz="2000" b="1" dirty="0">
                <a:solidFill>
                  <a:schemeClr val="accent1">
                    <a:lumMod val="75000"/>
                  </a:schemeClr>
                </a:solidFill>
                <a:latin typeface="Arial"/>
                <a:cs typeface="Arial"/>
              </a:rPr>
              <a:t>College Name: Haldia Institute of Technology</a:t>
            </a:r>
          </a:p>
          <a:p>
            <a:pPr marL="457200" indent="-457200">
              <a:buAutoNum type="arabicPeriod"/>
            </a:pPr>
            <a:r>
              <a:rPr lang="en-US" sz="2000" b="1" dirty="0">
                <a:solidFill>
                  <a:schemeClr val="accent1">
                    <a:lumMod val="75000"/>
                  </a:schemeClr>
                </a:solidFill>
                <a:latin typeface="Arial"/>
                <a:cs typeface="Arial"/>
              </a:rPr>
              <a:t>Department : Computer Science &amp; Engineering</a:t>
            </a:r>
          </a:p>
          <a:p>
            <a:r>
              <a:rPr lang="en-US" sz="2000" b="1" dirty="0">
                <a:solidFill>
                  <a:schemeClr val="accent1">
                    <a:lumMod val="75000"/>
                  </a:schemeClr>
                </a:solidFill>
                <a:latin typeface="Arial"/>
                <a:cs typeface="Arial"/>
              </a:rPr>
              <a:t>4.   AICTE id: STU693903360b2c01765344054</a:t>
            </a:r>
          </a:p>
        </p:txBody>
      </p:sp>
    </p:spTree>
    <p:extLst>
      <p:ext uri="{BB962C8B-B14F-4D97-AF65-F5344CB8AC3E}">
        <p14:creationId xmlns:p14="http://schemas.microsoft.com/office/powerpoint/2010/main" val="95332558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FFEB4C-F209-4AE7-AA2B-B3C26CE2C51D}"/>
              </a:ext>
            </a:extLst>
          </p:cNvPr>
          <p:cNvSpPr>
            <a:spLocks noGrp="1"/>
          </p:cNvSpPr>
          <p:nvPr>
            <p:ph type="title"/>
          </p:nvPr>
        </p:nvSpPr>
        <p:spPr>
          <a:xfrm>
            <a:off x="849573" y="558469"/>
            <a:ext cx="10515600" cy="1060470"/>
          </a:xfrm>
        </p:spPr>
        <p:txBody>
          <a:bodyPr/>
          <a:lstStyle/>
          <a:p>
            <a:r>
              <a:rPr lang="en-US" b="1" dirty="0">
                <a:solidFill>
                  <a:srgbClr val="002060"/>
                </a:solidFill>
                <a:latin typeface="Arial" panose="020B0604020202020204" pitchFamily="34" charset="0"/>
                <a:cs typeface="Arial" panose="020B0604020202020204" pitchFamily="34" charset="0"/>
              </a:rPr>
              <a:t>OUTLINE</a:t>
            </a:r>
          </a:p>
        </p:txBody>
      </p:sp>
      <p:sp>
        <p:nvSpPr>
          <p:cNvPr id="3" name="Content Placeholder 2">
            <a:extLst>
              <a:ext uri="{FF2B5EF4-FFF2-40B4-BE49-F238E27FC236}">
                <a16:creationId xmlns:a16="http://schemas.microsoft.com/office/drawing/2014/main" id="{B2678641-EEA3-4EC4-BF39-4075B0C120E8}"/>
              </a:ext>
            </a:extLst>
          </p:cNvPr>
          <p:cNvSpPr>
            <a:spLocks noGrp="1"/>
          </p:cNvSpPr>
          <p:nvPr>
            <p:ph idx="1"/>
          </p:nvPr>
        </p:nvSpPr>
        <p:spPr>
          <a:xfrm>
            <a:off x="838200" y="1618938"/>
            <a:ext cx="11019020" cy="5239062"/>
          </a:xfrm>
        </p:spPr>
        <p:txBody>
          <a:bodyPr vert="horz" lIns="91440" tIns="45720" rIns="91440" bIns="45720" rtlCol="0" anchor="t">
            <a:noAutofit/>
          </a:bodyPr>
          <a:lstStyle/>
          <a:p>
            <a:pPr marL="0" indent="0">
              <a:buNone/>
            </a:pPr>
            <a:r>
              <a:rPr lang="en-US" sz="2000" b="1" dirty="0">
                <a:latin typeface="Arial"/>
                <a:ea typeface="+mn-lt"/>
                <a:cs typeface="Arial"/>
              </a:rPr>
              <a:t>  </a:t>
            </a:r>
            <a:endParaRPr lang="en-US" dirty="0">
              <a:latin typeface="Arial"/>
              <a:cs typeface="Arial"/>
            </a:endParaRPr>
          </a:p>
          <a:p>
            <a:r>
              <a:rPr lang="en-US" sz="2000" b="1" dirty="0">
                <a:latin typeface="Arial"/>
                <a:ea typeface="+mn-lt"/>
                <a:cs typeface="Arial"/>
              </a:rPr>
              <a:t>Problem Statement </a:t>
            </a:r>
            <a:r>
              <a:rPr lang="en-US" sz="2000" dirty="0">
                <a:latin typeface="Arial"/>
                <a:ea typeface="+mn-lt"/>
                <a:cs typeface="Arial"/>
              </a:rPr>
              <a:t>(Should not include solution)</a:t>
            </a:r>
            <a:endParaRPr lang="en-US" dirty="0">
              <a:latin typeface="Arial"/>
              <a:cs typeface="Arial"/>
            </a:endParaRPr>
          </a:p>
          <a:p>
            <a:r>
              <a:rPr lang="en-US" sz="2000" b="1" dirty="0">
                <a:latin typeface="Arial"/>
                <a:ea typeface="+mn-lt"/>
                <a:cs typeface="Arial"/>
              </a:rPr>
              <a:t>Proposed System/Solution</a:t>
            </a:r>
            <a:endParaRPr lang="en-US" dirty="0">
              <a:latin typeface="Arial"/>
              <a:cs typeface="Arial"/>
            </a:endParaRPr>
          </a:p>
          <a:p>
            <a:r>
              <a:rPr lang="en-US" sz="2000" b="1" dirty="0">
                <a:latin typeface="Arial"/>
                <a:ea typeface="+mn-lt"/>
                <a:cs typeface="Calibri"/>
              </a:rPr>
              <a:t>System </a:t>
            </a:r>
            <a:r>
              <a:rPr lang="en-US" sz="2000" b="1" dirty="0">
                <a:latin typeface="Arial"/>
                <a:ea typeface="+mn-lt"/>
                <a:cs typeface="+mn-lt"/>
              </a:rPr>
              <a:t>Development Approach </a:t>
            </a:r>
            <a:r>
              <a:rPr lang="en-US" sz="2000" dirty="0">
                <a:latin typeface="Arial"/>
                <a:ea typeface="+mn-lt"/>
                <a:cs typeface="+mn-lt"/>
              </a:rPr>
              <a:t>(Technology Used) </a:t>
            </a:r>
            <a:endParaRPr lang="en-US" dirty="0">
              <a:latin typeface="Arial"/>
              <a:ea typeface="+mn-lt"/>
              <a:cs typeface="+mn-lt"/>
            </a:endParaRPr>
          </a:p>
          <a:p>
            <a:r>
              <a:rPr lang="en-US" sz="2000" b="1" dirty="0">
                <a:latin typeface="Arial"/>
                <a:ea typeface="+mn-lt"/>
                <a:cs typeface="+mn-lt"/>
              </a:rPr>
              <a:t>Algorithm &amp; Deployment  </a:t>
            </a:r>
            <a:endParaRPr lang="en-US" dirty="0">
              <a:latin typeface="Arial"/>
              <a:cs typeface="Calibri"/>
            </a:endParaRPr>
          </a:p>
          <a:p>
            <a:r>
              <a:rPr lang="en-US" sz="2000" b="1" dirty="0">
                <a:latin typeface="Arial"/>
                <a:ea typeface="+mn-lt"/>
                <a:cs typeface="Arial"/>
              </a:rPr>
              <a:t>Result</a:t>
            </a:r>
          </a:p>
          <a:p>
            <a:r>
              <a:rPr lang="en-US" sz="2000" b="1" dirty="0">
                <a:latin typeface="Arial"/>
                <a:ea typeface="+mn-lt"/>
                <a:cs typeface="Arial"/>
              </a:rPr>
              <a:t>Conclusion</a:t>
            </a:r>
            <a:endParaRPr lang="en-US" dirty="0">
              <a:latin typeface="Arial"/>
              <a:cs typeface="Arial"/>
            </a:endParaRPr>
          </a:p>
          <a:p>
            <a:r>
              <a:rPr lang="en-US" sz="2000" b="1" dirty="0">
                <a:latin typeface="Arial"/>
                <a:ea typeface="+mn-lt"/>
                <a:cs typeface="Arial"/>
              </a:rPr>
              <a:t>Future Scope</a:t>
            </a:r>
          </a:p>
          <a:p>
            <a:r>
              <a:rPr lang="en-US" sz="2000" b="1" dirty="0">
                <a:latin typeface="Arial"/>
                <a:ea typeface="+mn-lt"/>
                <a:cs typeface="Arial"/>
              </a:rPr>
              <a:t>References</a:t>
            </a:r>
          </a:p>
          <a:p>
            <a:r>
              <a:rPr lang="en-US" sz="2000" b="1" dirty="0">
                <a:latin typeface="Arial"/>
                <a:ea typeface="+mn-lt"/>
                <a:cs typeface="Arial"/>
              </a:rPr>
              <a:t>Deployment / GitHub Link</a:t>
            </a:r>
            <a:endParaRPr lang="en-US" dirty="0">
              <a:latin typeface="Arial"/>
              <a:cs typeface="Arial"/>
            </a:endParaRPr>
          </a:p>
          <a:p>
            <a:endParaRPr lang="en-US" dirty="0">
              <a:latin typeface="Arial"/>
              <a:cs typeface="Arial"/>
            </a:endParaRPr>
          </a:p>
        </p:txBody>
      </p:sp>
    </p:spTree>
    <p:extLst>
      <p:ext uri="{BB962C8B-B14F-4D97-AF65-F5344CB8AC3E}">
        <p14:creationId xmlns:p14="http://schemas.microsoft.com/office/powerpoint/2010/main" val="290015371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FBA75B4-2DD5-42EB-9397-F36BFB8BA723}"/>
              </a:ext>
            </a:extLst>
          </p:cNvPr>
          <p:cNvSpPr>
            <a:spLocks noGrp="1"/>
          </p:cNvSpPr>
          <p:nvPr>
            <p:ph type="title"/>
          </p:nvPr>
        </p:nvSpPr>
        <p:spPr/>
        <p:txBody>
          <a:bodyPr>
            <a:normAutofit fontScale="90000"/>
          </a:bodyPr>
          <a:lstStyle/>
          <a:p>
            <a:r>
              <a:rPr lang="en-US" sz="4400" b="1" dirty="0">
                <a:solidFill>
                  <a:schemeClr val="accent1"/>
                </a:solidFill>
                <a:latin typeface="Arial" panose="020B0604020202020204" pitchFamily="34" charset="0"/>
                <a:cs typeface="Arial" panose="020B0604020202020204" pitchFamily="34" charset="0"/>
              </a:rPr>
              <a:t>Problem Statement</a:t>
            </a:r>
            <a:endParaRPr lang="en-US" sz="4400" dirty="0"/>
          </a:p>
        </p:txBody>
      </p:sp>
      <p:sp>
        <p:nvSpPr>
          <p:cNvPr id="2" name="Content Placeholder 1">
            <a:extLst>
              <a:ext uri="{FF2B5EF4-FFF2-40B4-BE49-F238E27FC236}">
                <a16:creationId xmlns:a16="http://schemas.microsoft.com/office/drawing/2014/main" id="{8FEE4A9C-3F57-7DA7-91FD-715C3FB47F93}"/>
              </a:ext>
            </a:extLst>
          </p:cNvPr>
          <p:cNvSpPr>
            <a:spLocks noGrp="1"/>
          </p:cNvSpPr>
          <p:nvPr>
            <p:ph idx="1"/>
          </p:nvPr>
        </p:nvSpPr>
        <p:spPr>
          <a:xfrm>
            <a:off x="452403" y="1237632"/>
            <a:ext cx="11029615" cy="4673324"/>
          </a:xfrm>
        </p:spPr>
        <p:txBody>
          <a:bodyPr>
            <a:normAutofit/>
          </a:bodyPr>
          <a:lstStyle/>
          <a:p>
            <a:pPr marL="0" indent="0" algn="ctr">
              <a:buNone/>
            </a:pPr>
            <a:r>
              <a:rPr lang="en-IN" sz="2400" b="1" u="sng" dirty="0"/>
              <a:t>Fake News Detector for Students</a:t>
            </a:r>
          </a:p>
          <a:p>
            <a:pPr marL="0" indent="0">
              <a:buNone/>
            </a:pPr>
            <a:r>
              <a:rPr lang="en-IN" sz="2400" dirty="0"/>
              <a:t>Misinformation spreads quickly through online news and social media, making it hard for students to differentiate between reliable and fake information. There is a need for an AI solution that can </a:t>
            </a:r>
            <a:r>
              <a:rPr lang="en-IN" sz="2400" dirty="0" err="1"/>
              <a:t>analyze</a:t>
            </a:r>
            <a:r>
              <a:rPr lang="en-IN" sz="2400" dirty="0"/>
              <a:t> articles, assess credibility, and provide concise, trustworthy summaries to prevent the spread of false information.</a:t>
            </a:r>
          </a:p>
        </p:txBody>
      </p:sp>
    </p:spTree>
    <p:extLst>
      <p:ext uri="{BB962C8B-B14F-4D97-AF65-F5344CB8AC3E}">
        <p14:creationId xmlns:p14="http://schemas.microsoft.com/office/powerpoint/2010/main" val="118642116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FBA75B4-2DD5-42EB-9397-F36BFB8BA723}"/>
              </a:ext>
            </a:extLst>
          </p:cNvPr>
          <p:cNvSpPr>
            <a:spLocks noGrp="1"/>
          </p:cNvSpPr>
          <p:nvPr>
            <p:ph type="title"/>
          </p:nvPr>
        </p:nvSpPr>
        <p:spPr/>
        <p:txBody>
          <a:bodyPr>
            <a:normAutofit fontScale="90000"/>
          </a:bodyPr>
          <a:lstStyle/>
          <a:p>
            <a:r>
              <a:rPr lang="en-US" sz="4400" b="1">
                <a:solidFill>
                  <a:schemeClr val="accent1"/>
                </a:solidFill>
                <a:latin typeface="Arial" panose="020B0604020202020204" pitchFamily="34" charset="0"/>
                <a:cs typeface="Arial" panose="020B0604020202020204" pitchFamily="34" charset="0"/>
              </a:rPr>
              <a:t>Proposed Solution</a:t>
            </a:r>
            <a:endParaRPr lang="en-US" sz="4400"/>
          </a:p>
        </p:txBody>
      </p:sp>
      <p:sp>
        <p:nvSpPr>
          <p:cNvPr id="2" name="Content Placeholder 1">
            <a:extLst>
              <a:ext uri="{FF2B5EF4-FFF2-40B4-BE49-F238E27FC236}">
                <a16:creationId xmlns:a16="http://schemas.microsoft.com/office/drawing/2014/main" id="{E041FD9D-DF07-9C37-1E61-1D920E0EF1D4}"/>
              </a:ext>
            </a:extLst>
          </p:cNvPr>
          <p:cNvSpPr>
            <a:spLocks noGrp="1"/>
          </p:cNvSpPr>
          <p:nvPr>
            <p:ph idx="1"/>
          </p:nvPr>
        </p:nvSpPr>
        <p:spPr>
          <a:xfrm>
            <a:off x="441671" y="1087378"/>
            <a:ext cx="11613485" cy="5563973"/>
          </a:xfrm>
        </p:spPr>
        <p:txBody>
          <a:bodyPr vert="horz" lIns="91440" tIns="45720" rIns="91440" bIns="45720" rtlCol="0" anchor="ctr">
            <a:noAutofit/>
          </a:bodyPr>
          <a:lstStyle/>
          <a:p>
            <a:pPr marL="305435" indent="-305435"/>
            <a:endParaRPr lang="en-IN" sz="1200" b="1" dirty="0">
              <a:latin typeface="Calibri"/>
              <a:cs typeface="Calibri"/>
            </a:endParaRPr>
          </a:p>
          <a:p>
            <a:r>
              <a:rPr lang="en-IN" dirty="0"/>
              <a:t>The proposed system utilizes </a:t>
            </a:r>
            <a:r>
              <a:rPr lang="en-IN" b="1" dirty="0"/>
              <a:t>BERT (Bidirectional Encoder Representations from Transformers)</a:t>
            </a:r>
            <a:r>
              <a:rPr lang="en-IN" dirty="0"/>
              <a:t>, a state-of-the-art Natural Language Processing model, to automatically detect fake news. The system </a:t>
            </a:r>
            <a:r>
              <a:rPr lang="en-IN" dirty="0" err="1"/>
              <a:t>analyzes</a:t>
            </a:r>
            <a:r>
              <a:rPr lang="en-IN" dirty="0"/>
              <a:t> news headlines and classifies them as </a:t>
            </a:r>
            <a:r>
              <a:rPr lang="en-IN" b="1" dirty="0"/>
              <a:t>Real</a:t>
            </a:r>
            <a:r>
              <a:rPr lang="en-IN" dirty="0"/>
              <a:t> or </a:t>
            </a:r>
            <a:r>
              <a:rPr lang="en-IN" b="1" dirty="0"/>
              <a:t>Fake</a:t>
            </a:r>
            <a:r>
              <a:rPr lang="en-IN" dirty="0"/>
              <a:t> based on their contextual meaning.</a:t>
            </a:r>
          </a:p>
          <a:p>
            <a:r>
              <a:rPr lang="en-IN" dirty="0"/>
              <a:t>The solution consists of the following stages:</a:t>
            </a:r>
          </a:p>
          <a:p>
            <a:r>
              <a:rPr lang="en-IN" b="1" dirty="0"/>
              <a:t>Data Collection:</a:t>
            </a:r>
            <a:r>
              <a:rPr lang="en-IN" dirty="0"/>
              <a:t> Gather </a:t>
            </a:r>
            <a:r>
              <a:rPr lang="en-IN" dirty="0" err="1"/>
              <a:t>labeled</a:t>
            </a:r>
            <a:r>
              <a:rPr lang="en-IN" dirty="0"/>
              <a:t> datasets containing real and fake news headlines. </a:t>
            </a:r>
          </a:p>
          <a:p>
            <a:r>
              <a:rPr lang="en-IN" b="1" dirty="0"/>
              <a:t>Data Preprocessing:</a:t>
            </a:r>
            <a:r>
              <a:rPr lang="en-IN" dirty="0"/>
              <a:t> Clean and prepare textual data for analysis. </a:t>
            </a:r>
          </a:p>
          <a:p>
            <a:r>
              <a:rPr lang="en-IN" b="1" dirty="0"/>
              <a:t>BERT Tokenization:</a:t>
            </a:r>
            <a:r>
              <a:rPr lang="en-IN" dirty="0"/>
              <a:t> Convert news headlines into token representations understandable by the model. </a:t>
            </a:r>
          </a:p>
          <a:p>
            <a:r>
              <a:rPr lang="en-IN" b="1" dirty="0"/>
              <a:t>Model Training:</a:t>
            </a:r>
            <a:r>
              <a:rPr lang="en-IN" dirty="0"/>
              <a:t> Fine-tune a pre-trained BERT model on the fake news dataset. </a:t>
            </a:r>
          </a:p>
          <a:p>
            <a:r>
              <a:rPr lang="en-IN" b="1" dirty="0"/>
              <a:t>Prediction:</a:t>
            </a:r>
            <a:r>
              <a:rPr lang="en-IN" dirty="0"/>
              <a:t> Accept user-input headlines and generate real-time classifications. </a:t>
            </a:r>
          </a:p>
          <a:p>
            <a:r>
              <a:rPr lang="en-IN" b="1" dirty="0"/>
              <a:t>Evaluation:</a:t>
            </a:r>
            <a:r>
              <a:rPr lang="en-IN" dirty="0"/>
              <a:t> Measure performance using Accuracy, Precision, Recall, F1-Score, and Confusion Matrix. </a:t>
            </a:r>
          </a:p>
          <a:p>
            <a:pPr marL="0" indent="0">
              <a:buNone/>
            </a:pPr>
            <a:endParaRPr lang="en-IN" dirty="0"/>
          </a:p>
          <a:p>
            <a:pPr marL="0" indent="0">
              <a:buNone/>
            </a:pPr>
            <a:r>
              <a:rPr lang="en-IN" dirty="0"/>
              <a:t>The developed system helps students quickly verify the authenticity of news content and reduces the spread of misinformation through AI-driven analysis.</a:t>
            </a:r>
          </a:p>
          <a:p>
            <a:pPr marL="0" indent="0">
              <a:buNone/>
            </a:pPr>
            <a:endParaRPr lang="en-IN" dirty="0"/>
          </a:p>
        </p:txBody>
      </p:sp>
    </p:spTree>
    <p:extLst>
      <p:ext uri="{BB962C8B-B14F-4D97-AF65-F5344CB8AC3E}">
        <p14:creationId xmlns:p14="http://schemas.microsoft.com/office/powerpoint/2010/main" val="321035848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FBA75B4-2DD5-42EB-9397-F36BFB8BA723}"/>
              </a:ext>
            </a:extLst>
          </p:cNvPr>
          <p:cNvSpPr>
            <a:spLocks noGrp="1"/>
          </p:cNvSpPr>
          <p:nvPr>
            <p:ph type="title"/>
          </p:nvPr>
        </p:nvSpPr>
        <p:spPr>
          <a:xfrm>
            <a:off x="581192" y="662572"/>
            <a:ext cx="11029616" cy="530296"/>
          </a:xfrm>
        </p:spPr>
        <p:txBody>
          <a:bodyPr>
            <a:normAutofit fontScale="90000"/>
          </a:bodyPr>
          <a:lstStyle/>
          <a:p>
            <a:r>
              <a:rPr lang="en-US" sz="4400" b="1">
                <a:solidFill>
                  <a:schemeClr val="accent1"/>
                </a:solidFill>
                <a:latin typeface="Arial"/>
                <a:ea typeface="+mj-lt"/>
                <a:cs typeface="Arial"/>
              </a:rPr>
              <a:t>System  Approach</a:t>
            </a:r>
            <a:endParaRPr lang="en-US" sz="4400">
              <a:solidFill>
                <a:schemeClr val="accent1"/>
              </a:solidFill>
              <a:latin typeface="Calibri Light"/>
              <a:cs typeface="Calibri Light"/>
            </a:endParaRPr>
          </a:p>
        </p:txBody>
      </p:sp>
      <p:sp>
        <p:nvSpPr>
          <p:cNvPr id="2" name="Content Placeholder 1">
            <a:extLst>
              <a:ext uri="{FF2B5EF4-FFF2-40B4-BE49-F238E27FC236}">
                <a16:creationId xmlns:a16="http://schemas.microsoft.com/office/drawing/2014/main" id="{C4FFAF3C-BA60-9181-132C-C36C403AAEA7}"/>
              </a:ext>
            </a:extLst>
          </p:cNvPr>
          <p:cNvSpPr>
            <a:spLocks noGrp="1"/>
          </p:cNvSpPr>
          <p:nvPr>
            <p:ph idx="1"/>
          </p:nvPr>
        </p:nvSpPr>
        <p:spPr>
          <a:xfrm>
            <a:off x="581192" y="1092201"/>
            <a:ext cx="11029615" cy="5300132"/>
          </a:xfrm>
        </p:spPr>
        <p:txBody>
          <a:bodyPr>
            <a:normAutofit fontScale="85000" lnSpcReduction="10000"/>
          </a:bodyPr>
          <a:lstStyle/>
          <a:p>
            <a:pPr marL="0" indent="0">
              <a:buNone/>
            </a:pPr>
            <a:endParaRPr lang="en-IN" sz="1800" b="1" dirty="0"/>
          </a:p>
          <a:p>
            <a:pPr marL="0" indent="0">
              <a:buNone/>
            </a:pPr>
            <a:r>
              <a:rPr lang="en-IN" sz="1800" b="1" dirty="0"/>
              <a:t>Technologies Used</a:t>
            </a:r>
            <a:endParaRPr lang="en-IN" sz="1800" dirty="0"/>
          </a:p>
          <a:p>
            <a:r>
              <a:rPr lang="en-IN" sz="1800" dirty="0"/>
              <a:t>Python </a:t>
            </a:r>
          </a:p>
          <a:p>
            <a:r>
              <a:rPr lang="en-IN" sz="1800" dirty="0"/>
              <a:t>Google </a:t>
            </a:r>
            <a:r>
              <a:rPr lang="en-IN" sz="1800" dirty="0" err="1"/>
              <a:t>Colab</a:t>
            </a:r>
            <a:r>
              <a:rPr lang="en-IN" sz="1800" dirty="0"/>
              <a:t> </a:t>
            </a:r>
          </a:p>
          <a:p>
            <a:r>
              <a:rPr lang="en-IN" sz="1800" dirty="0" err="1"/>
              <a:t>PyTorch</a:t>
            </a:r>
            <a:r>
              <a:rPr lang="en-IN" sz="1800" dirty="0"/>
              <a:t> </a:t>
            </a:r>
          </a:p>
          <a:p>
            <a:r>
              <a:rPr lang="en-IN" sz="1800" dirty="0"/>
              <a:t>BERT </a:t>
            </a:r>
          </a:p>
          <a:p>
            <a:r>
              <a:rPr lang="en-IN" sz="1800" dirty="0"/>
              <a:t>Transformers Library</a:t>
            </a:r>
          </a:p>
          <a:p>
            <a:pPr marL="0" indent="0">
              <a:buNone/>
            </a:pPr>
            <a:r>
              <a:rPr lang="en-IN" sz="1800" b="1" dirty="0"/>
              <a:t>Workflow</a:t>
            </a:r>
          </a:p>
          <a:p>
            <a:pPr marL="0" indent="0">
              <a:buNone/>
            </a:pPr>
            <a:r>
              <a:rPr lang="en-IN" sz="1800" dirty="0"/>
              <a:t>News Headlines -&gt; Data Preprocessing -&gt; BERT Tokenization -&gt; Model Training -&gt; Prediction -&gt; Real / Fake Classification</a:t>
            </a:r>
            <a:endParaRPr lang="en-IN" sz="1800" b="1" dirty="0"/>
          </a:p>
          <a:p>
            <a:pPr marL="0" indent="0">
              <a:buNone/>
            </a:pPr>
            <a:r>
              <a:rPr lang="en-IN" sz="1800" b="1" dirty="0"/>
              <a:t>Key Features</a:t>
            </a:r>
            <a:endParaRPr lang="en-IN" sz="1800" dirty="0"/>
          </a:p>
          <a:p>
            <a:r>
              <a:rPr lang="en-IN" sz="1800" dirty="0"/>
              <a:t>Automated Fake News Detection </a:t>
            </a:r>
          </a:p>
          <a:p>
            <a:r>
              <a:rPr lang="en-IN" sz="1800" dirty="0"/>
              <a:t>BERT-based NLP Processing </a:t>
            </a:r>
          </a:p>
          <a:p>
            <a:r>
              <a:rPr lang="en-IN" sz="1800" dirty="0"/>
              <a:t>Real-Time Headline Prediction </a:t>
            </a:r>
          </a:p>
          <a:p>
            <a:r>
              <a:rPr lang="en-IN" sz="1800" dirty="0"/>
              <a:t>Performance Evaluation using Classification Metrics</a:t>
            </a:r>
          </a:p>
          <a:p>
            <a:endParaRPr lang="en-IN" sz="1800" dirty="0"/>
          </a:p>
          <a:p>
            <a:pPr marL="0" indent="0">
              <a:buNone/>
            </a:pPr>
            <a:endParaRPr lang="en-IN" sz="1800" b="1" dirty="0">
              <a:solidFill>
                <a:srgbClr val="0F0F0F"/>
              </a:solidFill>
            </a:endParaRPr>
          </a:p>
        </p:txBody>
      </p:sp>
    </p:spTree>
    <p:extLst>
      <p:ext uri="{BB962C8B-B14F-4D97-AF65-F5344CB8AC3E}">
        <p14:creationId xmlns:p14="http://schemas.microsoft.com/office/powerpoint/2010/main" val="320202452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FBA75B4-2DD5-42EB-9397-F36BFB8BA723}"/>
              </a:ext>
            </a:extLst>
          </p:cNvPr>
          <p:cNvSpPr>
            <a:spLocks noGrp="1"/>
          </p:cNvSpPr>
          <p:nvPr>
            <p:ph type="title"/>
          </p:nvPr>
        </p:nvSpPr>
        <p:spPr/>
        <p:txBody>
          <a:bodyPr>
            <a:normAutofit fontScale="90000"/>
          </a:bodyPr>
          <a:lstStyle/>
          <a:p>
            <a:r>
              <a:rPr lang="en-US" sz="4400" b="1">
                <a:solidFill>
                  <a:schemeClr val="accent1"/>
                </a:solidFill>
                <a:latin typeface="Arial"/>
                <a:ea typeface="+mj-lt"/>
                <a:cs typeface="Arial"/>
              </a:rPr>
              <a:t>Algorithm &amp; Deployment</a:t>
            </a:r>
            <a:endParaRPr lang="en-US"/>
          </a:p>
        </p:txBody>
      </p:sp>
      <p:sp>
        <p:nvSpPr>
          <p:cNvPr id="2" name="Content Placeholder 1">
            <a:extLst>
              <a:ext uri="{FF2B5EF4-FFF2-40B4-BE49-F238E27FC236}">
                <a16:creationId xmlns:a16="http://schemas.microsoft.com/office/drawing/2014/main" id="{F7F0871F-2198-9E37-C96F-3611AA199B60}"/>
              </a:ext>
            </a:extLst>
          </p:cNvPr>
          <p:cNvSpPr>
            <a:spLocks noGrp="1"/>
          </p:cNvSpPr>
          <p:nvPr>
            <p:ph idx="1"/>
          </p:nvPr>
        </p:nvSpPr>
        <p:spPr>
          <a:xfrm>
            <a:off x="581192" y="1117600"/>
            <a:ext cx="11029615" cy="5283200"/>
          </a:xfrm>
        </p:spPr>
        <p:txBody>
          <a:bodyPr>
            <a:normAutofit fontScale="92500"/>
          </a:bodyPr>
          <a:lstStyle/>
          <a:p>
            <a:pPr marL="0" indent="0">
              <a:buNone/>
            </a:pPr>
            <a:endParaRPr lang="en-IN" b="1" dirty="0"/>
          </a:p>
          <a:p>
            <a:pPr marL="0" indent="0">
              <a:buNone/>
            </a:pPr>
            <a:r>
              <a:rPr lang="en-IN" b="1" dirty="0"/>
              <a:t>Algorithm: BERT (Bidirectional Encoder Representations from Transformers)</a:t>
            </a:r>
          </a:p>
          <a:p>
            <a:r>
              <a:rPr lang="en-IN" dirty="0"/>
              <a:t>A pre-trained Transformer-based NLP model used for text classification. </a:t>
            </a:r>
          </a:p>
          <a:p>
            <a:r>
              <a:rPr lang="en-IN" dirty="0"/>
              <a:t>Understands contextual relationships between words by </a:t>
            </a:r>
            <a:r>
              <a:rPr lang="en-IN" dirty="0" err="1"/>
              <a:t>analyzing</a:t>
            </a:r>
            <a:r>
              <a:rPr lang="en-IN" dirty="0"/>
              <a:t> text bidirectionally. </a:t>
            </a:r>
          </a:p>
          <a:p>
            <a:r>
              <a:rPr lang="en-IN" dirty="0"/>
              <a:t>Fine-tuned on a </a:t>
            </a:r>
            <a:r>
              <a:rPr lang="en-IN" dirty="0" err="1"/>
              <a:t>labeled</a:t>
            </a:r>
            <a:r>
              <a:rPr lang="en-IN" dirty="0"/>
              <a:t> fake news dataset to classify news headlines as </a:t>
            </a:r>
            <a:r>
              <a:rPr lang="en-IN" b="1" dirty="0"/>
              <a:t>Real</a:t>
            </a:r>
            <a:r>
              <a:rPr lang="en-IN" dirty="0"/>
              <a:t> or </a:t>
            </a:r>
            <a:r>
              <a:rPr lang="en-IN" b="1" dirty="0"/>
              <a:t>Fake</a:t>
            </a:r>
            <a:r>
              <a:rPr lang="en-IN" dirty="0"/>
              <a:t>. </a:t>
            </a:r>
          </a:p>
          <a:p>
            <a:r>
              <a:rPr lang="en-IN" dirty="0"/>
              <a:t>Provides high accuracy and effective contextual understanding compared to traditional machine learning approaches.</a:t>
            </a:r>
          </a:p>
          <a:p>
            <a:pPr marL="0" indent="0">
              <a:buNone/>
            </a:pPr>
            <a:r>
              <a:rPr lang="en-IN" b="1" dirty="0"/>
              <a:t>Workflow</a:t>
            </a:r>
          </a:p>
          <a:p>
            <a:pPr marL="0" indent="0">
              <a:buNone/>
            </a:pPr>
            <a:r>
              <a:rPr lang="en-IN" dirty="0"/>
              <a:t>Input Headline -&gt; BERT Tokenizer -&gt; BERT Model -&gt; Classification Layer -&gt; Real / Fake Prediction</a:t>
            </a:r>
            <a:endParaRPr lang="en-IN" b="1" dirty="0"/>
          </a:p>
          <a:p>
            <a:pPr marL="0" indent="0">
              <a:buNone/>
            </a:pPr>
            <a:r>
              <a:rPr lang="en-IN" b="1" dirty="0"/>
              <a:t>Deployment</a:t>
            </a:r>
          </a:p>
          <a:p>
            <a:r>
              <a:rPr lang="en-IN" dirty="0"/>
              <a:t>Developed using </a:t>
            </a:r>
            <a:r>
              <a:rPr lang="en-IN" b="1" dirty="0"/>
              <a:t>Python</a:t>
            </a:r>
            <a:r>
              <a:rPr lang="en-IN" dirty="0"/>
              <a:t> and </a:t>
            </a:r>
            <a:r>
              <a:rPr lang="en-IN" b="1" dirty="0"/>
              <a:t>Google </a:t>
            </a:r>
            <a:r>
              <a:rPr lang="en-IN" b="1" dirty="0" err="1"/>
              <a:t>Colab</a:t>
            </a:r>
            <a:r>
              <a:rPr lang="en-IN" dirty="0"/>
              <a:t>. </a:t>
            </a:r>
          </a:p>
          <a:p>
            <a:r>
              <a:rPr lang="en-IN" dirty="0"/>
              <a:t>Implemented using </a:t>
            </a:r>
            <a:r>
              <a:rPr lang="en-IN" b="1" dirty="0" err="1"/>
              <a:t>PyTorch</a:t>
            </a:r>
            <a:r>
              <a:rPr lang="en-IN" dirty="0"/>
              <a:t> and the </a:t>
            </a:r>
            <a:r>
              <a:rPr lang="en-IN" b="1" dirty="0"/>
              <a:t>Transformers</a:t>
            </a:r>
            <a:r>
              <a:rPr lang="en-IN" dirty="0"/>
              <a:t> library. </a:t>
            </a:r>
          </a:p>
          <a:p>
            <a:r>
              <a:rPr lang="en-IN" dirty="0"/>
              <a:t>Supports real-time prediction of user-entered news headlines. </a:t>
            </a:r>
          </a:p>
          <a:p>
            <a:r>
              <a:rPr lang="en-IN" dirty="0"/>
              <a:t>Can be extended for deployment as a web or mobile application in the future.</a:t>
            </a:r>
          </a:p>
          <a:p>
            <a:endParaRPr lang="en-IN" dirty="0"/>
          </a:p>
          <a:p>
            <a:pPr marL="0" indent="0">
              <a:buNone/>
            </a:pPr>
            <a:endParaRPr lang="en-IN" dirty="0"/>
          </a:p>
        </p:txBody>
      </p:sp>
    </p:spTree>
    <p:extLst>
      <p:ext uri="{BB962C8B-B14F-4D97-AF65-F5344CB8AC3E}">
        <p14:creationId xmlns:p14="http://schemas.microsoft.com/office/powerpoint/2010/main" val="415450877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FBA75B4-2DD5-42EB-9397-F36BFB8BA723}"/>
              </a:ext>
            </a:extLst>
          </p:cNvPr>
          <p:cNvSpPr>
            <a:spLocks noGrp="1"/>
          </p:cNvSpPr>
          <p:nvPr>
            <p:ph type="title"/>
          </p:nvPr>
        </p:nvSpPr>
        <p:spPr/>
        <p:txBody>
          <a:bodyPr>
            <a:normAutofit fontScale="90000"/>
          </a:bodyPr>
          <a:lstStyle/>
          <a:p>
            <a:r>
              <a:rPr lang="en-US" sz="4400" b="1">
                <a:solidFill>
                  <a:schemeClr val="accent1"/>
                </a:solidFill>
                <a:latin typeface="Arial"/>
                <a:ea typeface="+mj-lt"/>
                <a:cs typeface="Arial"/>
              </a:rPr>
              <a:t>Result</a:t>
            </a:r>
            <a:endParaRPr lang="en-US"/>
          </a:p>
        </p:txBody>
      </p:sp>
      <p:pic>
        <p:nvPicPr>
          <p:cNvPr id="4" name="Content Placeholder 3">
            <a:extLst>
              <a:ext uri="{FF2B5EF4-FFF2-40B4-BE49-F238E27FC236}">
                <a16:creationId xmlns:a16="http://schemas.microsoft.com/office/drawing/2014/main" id="{45EE4C3E-1245-3744-D225-0CBEBB2226AF}"/>
              </a:ext>
            </a:extLst>
          </p:cNvPr>
          <p:cNvPicPr>
            <a:picLocks noGrp="1" noChangeAspect="1"/>
          </p:cNvPicPr>
          <p:nvPr>
            <p:ph idx="1"/>
          </p:nvPr>
        </p:nvPicPr>
        <p:blipFill>
          <a:blip r:embed="rId3"/>
          <a:stretch>
            <a:fillRect/>
          </a:stretch>
        </p:blipFill>
        <p:spPr>
          <a:xfrm>
            <a:off x="581192" y="1604985"/>
            <a:ext cx="4109319" cy="3400161"/>
          </a:xfrm>
          <a:prstGeom prst="rect">
            <a:avLst/>
          </a:prstGeom>
        </p:spPr>
      </p:pic>
      <p:pic>
        <p:nvPicPr>
          <p:cNvPr id="7" name="Picture 6">
            <a:extLst>
              <a:ext uri="{FF2B5EF4-FFF2-40B4-BE49-F238E27FC236}">
                <a16:creationId xmlns:a16="http://schemas.microsoft.com/office/drawing/2014/main" id="{F57FCB66-D25A-0AB2-5ABE-B6C7F667B551}"/>
              </a:ext>
            </a:extLst>
          </p:cNvPr>
          <p:cNvPicPr>
            <a:picLocks noChangeAspect="1"/>
          </p:cNvPicPr>
          <p:nvPr/>
        </p:nvPicPr>
        <p:blipFill>
          <a:blip r:embed="rId4"/>
          <a:stretch>
            <a:fillRect/>
          </a:stretch>
        </p:blipFill>
        <p:spPr>
          <a:xfrm>
            <a:off x="6600658" y="1604985"/>
            <a:ext cx="5010150" cy="1752600"/>
          </a:xfrm>
          <a:prstGeom prst="rect">
            <a:avLst/>
          </a:prstGeom>
        </p:spPr>
      </p:pic>
      <p:sp>
        <p:nvSpPr>
          <p:cNvPr id="8" name="TextBox 7">
            <a:extLst>
              <a:ext uri="{FF2B5EF4-FFF2-40B4-BE49-F238E27FC236}">
                <a16:creationId xmlns:a16="http://schemas.microsoft.com/office/drawing/2014/main" id="{53D59BA6-F642-44FA-BABE-8E944C0EAAD4}"/>
              </a:ext>
            </a:extLst>
          </p:cNvPr>
          <p:cNvSpPr txBox="1"/>
          <p:nvPr/>
        </p:nvSpPr>
        <p:spPr>
          <a:xfrm>
            <a:off x="6824133" y="3872949"/>
            <a:ext cx="4786675" cy="1754326"/>
          </a:xfrm>
          <a:prstGeom prst="rect">
            <a:avLst/>
          </a:prstGeom>
          <a:noFill/>
        </p:spPr>
        <p:txBody>
          <a:bodyPr wrap="square" rtlCol="0">
            <a:spAutoFit/>
          </a:bodyPr>
          <a:lstStyle/>
          <a:p>
            <a:r>
              <a:rPr lang="en-IN" b="1" dirty="0"/>
              <a:t>Model Performance</a:t>
            </a:r>
          </a:p>
          <a:p>
            <a:pPr marL="285750" indent="-285750">
              <a:buFont typeface="Arial" panose="020B0604020202020204" pitchFamily="34" charset="0"/>
              <a:buChar char="•"/>
            </a:pPr>
            <a:r>
              <a:rPr lang="en-IN" dirty="0"/>
              <a:t>Accuracy: 98.87% </a:t>
            </a:r>
          </a:p>
          <a:p>
            <a:pPr marL="285750" indent="-285750">
              <a:buFont typeface="Arial" panose="020B0604020202020204" pitchFamily="34" charset="0"/>
              <a:buChar char="•"/>
            </a:pPr>
            <a:r>
              <a:rPr lang="en-IN" dirty="0"/>
              <a:t>Precision: 99% </a:t>
            </a:r>
          </a:p>
          <a:p>
            <a:pPr marL="285750" indent="-285750">
              <a:buFont typeface="Arial" panose="020B0604020202020204" pitchFamily="34" charset="0"/>
              <a:buChar char="•"/>
            </a:pPr>
            <a:r>
              <a:rPr lang="en-IN" dirty="0"/>
              <a:t>Recall: 99% </a:t>
            </a:r>
          </a:p>
          <a:p>
            <a:pPr marL="285750" indent="-285750">
              <a:buFont typeface="Arial" panose="020B0604020202020204" pitchFamily="34" charset="0"/>
              <a:buChar char="•"/>
            </a:pPr>
            <a:r>
              <a:rPr lang="en-IN" dirty="0"/>
              <a:t>F1-Score: 99%</a:t>
            </a:r>
          </a:p>
          <a:p>
            <a:endParaRPr lang="en-IN" dirty="0"/>
          </a:p>
        </p:txBody>
      </p:sp>
      <p:sp>
        <p:nvSpPr>
          <p:cNvPr id="11" name="TextBox 10">
            <a:extLst>
              <a:ext uri="{FF2B5EF4-FFF2-40B4-BE49-F238E27FC236}">
                <a16:creationId xmlns:a16="http://schemas.microsoft.com/office/drawing/2014/main" id="{17C58BC6-68B6-73B1-2BA7-262E05001987}"/>
              </a:ext>
            </a:extLst>
          </p:cNvPr>
          <p:cNvSpPr txBox="1"/>
          <p:nvPr/>
        </p:nvSpPr>
        <p:spPr>
          <a:xfrm>
            <a:off x="8102624" y="1228769"/>
            <a:ext cx="2201309" cy="376216"/>
          </a:xfrm>
          <a:prstGeom prst="rect">
            <a:avLst/>
          </a:prstGeom>
          <a:noFill/>
        </p:spPr>
        <p:txBody>
          <a:bodyPr wrap="square" rtlCol="0">
            <a:spAutoFit/>
          </a:bodyPr>
          <a:lstStyle/>
          <a:p>
            <a:r>
              <a:rPr lang="en-IN" b="1" dirty="0"/>
              <a:t>Classification Report</a:t>
            </a:r>
          </a:p>
        </p:txBody>
      </p:sp>
      <p:sp>
        <p:nvSpPr>
          <p:cNvPr id="13" name="TextBox 12">
            <a:extLst>
              <a:ext uri="{FF2B5EF4-FFF2-40B4-BE49-F238E27FC236}">
                <a16:creationId xmlns:a16="http://schemas.microsoft.com/office/drawing/2014/main" id="{ECDA2DD7-90E3-0766-9F43-B2F57C84D144}"/>
              </a:ext>
            </a:extLst>
          </p:cNvPr>
          <p:cNvSpPr txBox="1"/>
          <p:nvPr/>
        </p:nvSpPr>
        <p:spPr>
          <a:xfrm>
            <a:off x="1720609" y="1235653"/>
            <a:ext cx="1830483" cy="369332"/>
          </a:xfrm>
          <a:prstGeom prst="rect">
            <a:avLst/>
          </a:prstGeom>
          <a:noFill/>
        </p:spPr>
        <p:txBody>
          <a:bodyPr wrap="square" rtlCol="0">
            <a:spAutoFit/>
          </a:bodyPr>
          <a:lstStyle/>
          <a:p>
            <a:r>
              <a:rPr lang="en-IN" b="1" dirty="0"/>
              <a:t>Confusion Matrix</a:t>
            </a:r>
          </a:p>
        </p:txBody>
      </p:sp>
    </p:spTree>
    <p:extLst>
      <p:ext uri="{BB962C8B-B14F-4D97-AF65-F5344CB8AC3E}">
        <p14:creationId xmlns:p14="http://schemas.microsoft.com/office/powerpoint/2010/main" val="148329338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FBA75B4-2DD5-42EB-9397-F36BFB8BA723}"/>
              </a:ext>
            </a:extLst>
          </p:cNvPr>
          <p:cNvSpPr>
            <a:spLocks noGrp="1"/>
          </p:cNvSpPr>
          <p:nvPr>
            <p:ph type="title"/>
          </p:nvPr>
        </p:nvSpPr>
        <p:spPr/>
        <p:txBody>
          <a:bodyPr>
            <a:normAutofit fontScale="90000"/>
          </a:bodyPr>
          <a:lstStyle/>
          <a:p>
            <a:r>
              <a:rPr lang="en-US" sz="4400" b="1">
                <a:solidFill>
                  <a:schemeClr val="accent1"/>
                </a:solidFill>
                <a:latin typeface="Arial"/>
                <a:ea typeface="+mj-lt"/>
                <a:cs typeface="Arial"/>
              </a:rPr>
              <a:t>Conclusion</a:t>
            </a:r>
            <a:endParaRPr lang="en-US"/>
          </a:p>
        </p:txBody>
      </p:sp>
      <p:sp>
        <p:nvSpPr>
          <p:cNvPr id="2" name="Content Placeholder 1">
            <a:extLst>
              <a:ext uri="{FF2B5EF4-FFF2-40B4-BE49-F238E27FC236}">
                <a16:creationId xmlns:a16="http://schemas.microsoft.com/office/drawing/2014/main" id="{005E46AB-32C4-4B57-A2B1-50738A64BE1B}"/>
              </a:ext>
            </a:extLst>
          </p:cNvPr>
          <p:cNvSpPr>
            <a:spLocks noGrp="1"/>
          </p:cNvSpPr>
          <p:nvPr>
            <p:ph idx="1"/>
          </p:nvPr>
        </p:nvSpPr>
        <p:spPr/>
        <p:txBody>
          <a:bodyPr>
            <a:normAutofit lnSpcReduction="10000"/>
          </a:bodyPr>
          <a:lstStyle/>
          <a:p>
            <a:r>
              <a:rPr lang="en-IN" sz="2000" dirty="0"/>
              <a:t>The </a:t>
            </a:r>
            <a:r>
              <a:rPr lang="en-IN" sz="2000" b="1" dirty="0"/>
              <a:t>Fake News Detector for Students</a:t>
            </a:r>
            <a:r>
              <a:rPr lang="en-IN" sz="2000" dirty="0"/>
              <a:t> successfully demonstrates the application of Artificial Intelligence and Natural Language Processing in identifying misinformation. By leveraging the </a:t>
            </a:r>
            <a:r>
              <a:rPr lang="en-IN" sz="2000" b="1" dirty="0"/>
              <a:t>BERT (Bidirectional Encoder Representations from Transformers)</a:t>
            </a:r>
            <a:r>
              <a:rPr lang="en-IN" sz="2000" dirty="0"/>
              <a:t> model, the system is able to understand contextual relationships within news headlines and classify them as </a:t>
            </a:r>
            <a:r>
              <a:rPr lang="en-IN" sz="2000" b="1" dirty="0"/>
              <a:t>Real</a:t>
            </a:r>
            <a:r>
              <a:rPr lang="en-IN" sz="2000" dirty="0"/>
              <a:t> or </a:t>
            </a:r>
            <a:r>
              <a:rPr lang="en-IN" sz="2000" b="1" dirty="0"/>
              <a:t>Fake</a:t>
            </a:r>
            <a:r>
              <a:rPr lang="en-IN" sz="2000" dirty="0"/>
              <a:t> with high accuracy.</a:t>
            </a:r>
          </a:p>
          <a:p>
            <a:r>
              <a:rPr lang="en-IN" sz="2000" dirty="0"/>
              <a:t>The developed model achieved an accuracy of approximately </a:t>
            </a:r>
            <a:r>
              <a:rPr lang="en-IN" sz="2000" b="1" dirty="0"/>
              <a:t>98.87%</a:t>
            </a:r>
            <a:r>
              <a:rPr lang="en-IN" sz="2000" dirty="0"/>
              <a:t>, highlighting the effectiveness of transformer-based architectures for text classification tasks. In addition, the system provides real-time predictions, enabling users to quickly evaluate the credibility of news content.</a:t>
            </a:r>
          </a:p>
          <a:p>
            <a:r>
              <a:rPr lang="en-IN" sz="2000" dirty="0"/>
              <a:t>This project showcases how AI can be utilized to combat the spread of misinformation and assist students in accessing reliable information. The results indicate that deep learning models such as BERT can serve as powerful tools for enhancing digital literacy and promoting informed decision-making in today's information-driven world.</a:t>
            </a:r>
          </a:p>
        </p:txBody>
      </p:sp>
    </p:spTree>
    <p:extLst>
      <p:ext uri="{BB962C8B-B14F-4D97-AF65-F5344CB8AC3E}">
        <p14:creationId xmlns:p14="http://schemas.microsoft.com/office/powerpoint/2010/main" val="318331512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6638FD1-D00E-E75B-705C-564F06D93D7B}"/>
              </a:ext>
            </a:extLst>
          </p:cNvPr>
          <p:cNvSpPr>
            <a:spLocks noGrp="1"/>
          </p:cNvSpPr>
          <p:nvPr>
            <p:ph idx="1"/>
          </p:nvPr>
        </p:nvSpPr>
        <p:spPr/>
        <p:txBody>
          <a:bodyPr>
            <a:normAutofit fontScale="92500" lnSpcReduction="10000"/>
          </a:bodyPr>
          <a:lstStyle/>
          <a:p>
            <a:pPr marL="0" indent="0">
              <a:buNone/>
            </a:pPr>
            <a:endParaRPr lang="en-US" sz="2000" b="1" dirty="0"/>
          </a:p>
          <a:p>
            <a:pPr marL="305435" indent="-305435"/>
            <a:r>
              <a:rPr lang="en-IN" b="1" dirty="0"/>
              <a:t>Full News Article Analysis:</a:t>
            </a:r>
            <a:r>
              <a:rPr lang="en-IN" dirty="0"/>
              <a:t> Extend the system to </a:t>
            </a:r>
            <a:r>
              <a:rPr lang="en-IN" dirty="0" err="1"/>
              <a:t>analyze</a:t>
            </a:r>
            <a:r>
              <a:rPr lang="en-IN" dirty="0"/>
              <a:t> complete news articles instead of only headlines, improving prediction accuracy and contextual understanding. </a:t>
            </a:r>
          </a:p>
          <a:p>
            <a:pPr marL="305435" indent="-305435"/>
            <a:r>
              <a:rPr lang="en-IN" b="1" dirty="0"/>
              <a:t>Multilingual Fake News Detection:</a:t>
            </a:r>
            <a:r>
              <a:rPr lang="en-IN" dirty="0"/>
              <a:t> Support multiple languages to make the system accessible to users from different linguistic backgrounds. </a:t>
            </a:r>
          </a:p>
          <a:p>
            <a:pPr marL="305435" indent="-305435"/>
            <a:r>
              <a:rPr lang="en-IN" b="1" dirty="0"/>
              <a:t>Explainable AI (XAI):</a:t>
            </a:r>
            <a:r>
              <a:rPr lang="en-IN" dirty="0"/>
              <a:t> Integrate explainable AI techniques to highlight the words or phrases that influenced the model's prediction, increasing transparency and user trust. </a:t>
            </a:r>
          </a:p>
          <a:p>
            <a:pPr marL="305435" indent="-305435"/>
            <a:r>
              <a:rPr lang="en-IN" b="1" dirty="0"/>
              <a:t>Real-Time Fact Verification:</a:t>
            </a:r>
            <a:r>
              <a:rPr lang="en-IN" dirty="0"/>
              <a:t> Connect the system with trusted fact-checking databases and APIs to validate news content against verified sources in real time. </a:t>
            </a:r>
          </a:p>
          <a:p>
            <a:pPr marL="305435" indent="-305435"/>
            <a:r>
              <a:rPr lang="en-IN" b="1" dirty="0"/>
              <a:t>Web and Mobile Deployment:</a:t>
            </a:r>
            <a:r>
              <a:rPr lang="en-IN" dirty="0"/>
              <a:t> Develop a user-friendly web application and mobile app to enable easy access and wider adoption. </a:t>
            </a:r>
          </a:p>
          <a:p>
            <a:pPr marL="305435" indent="-305435"/>
            <a:r>
              <a:rPr lang="en-IN" b="1" dirty="0"/>
              <a:t>Social Media Integration:</a:t>
            </a:r>
            <a:r>
              <a:rPr lang="en-IN" dirty="0"/>
              <a:t> Enable automatic detection and flagging of potentially misleading content shared on social media platforms. </a:t>
            </a:r>
          </a:p>
          <a:p>
            <a:pPr marL="305435" indent="-305435"/>
            <a:r>
              <a:rPr lang="en-IN" b="1" dirty="0"/>
              <a:t>Continuous Learning Framework:</a:t>
            </a:r>
            <a:r>
              <a:rPr lang="en-IN" dirty="0"/>
              <a:t> Implement mechanisms for periodic retraining using newly available news data to keep the model updated against emerging misinformation trends.</a:t>
            </a:r>
            <a:endParaRPr lang="en-US" dirty="0"/>
          </a:p>
        </p:txBody>
      </p:sp>
      <p:sp>
        <p:nvSpPr>
          <p:cNvPr id="5" name="Title 4">
            <a:extLst>
              <a:ext uri="{FF2B5EF4-FFF2-40B4-BE49-F238E27FC236}">
                <a16:creationId xmlns:a16="http://schemas.microsoft.com/office/drawing/2014/main" id="{3F968F13-9AC4-7120-7ACD-9F752C767D5D}"/>
              </a:ext>
            </a:extLst>
          </p:cNvPr>
          <p:cNvSpPr txBox="1">
            <a:spLocks/>
          </p:cNvSpPr>
          <p:nvPr/>
        </p:nvSpPr>
        <p:spPr>
          <a:xfrm>
            <a:off x="535670" y="844659"/>
            <a:ext cx="11029616" cy="530296"/>
          </a:xfrm>
          <a:prstGeom prst="rect">
            <a:avLst/>
          </a:prstGeom>
        </p:spPr>
        <p:txBody>
          <a:bodyPr vert="horz" lIns="91440" tIns="45720" rIns="91440" bIns="45720" rtlCol="0" anchor="b">
            <a:normAutofit fontScale="75000" lnSpcReduction="20000"/>
          </a:bodyPr>
          <a:lstStyle>
            <a:lvl1pPr algn="l" defTabSz="457200" rtl="0" eaLnBrk="1" latinLnBrk="0" hangingPunct="1">
              <a:lnSpc>
                <a:spcPct val="100000"/>
              </a:lnSpc>
              <a:spcBef>
                <a:spcPct val="0"/>
              </a:spcBef>
              <a:buNone/>
              <a:defRPr sz="2800" b="0" kern="1200" cap="all">
                <a:solidFill>
                  <a:schemeClr val="tx1">
                    <a:lumMod val="75000"/>
                    <a:lumOff val="2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4400" b="1" dirty="0">
                <a:solidFill>
                  <a:schemeClr val="accent1"/>
                </a:solidFill>
                <a:latin typeface="Arial"/>
                <a:cs typeface="Arial"/>
              </a:rPr>
              <a:t>Future scope</a:t>
            </a:r>
          </a:p>
        </p:txBody>
      </p:sp>
    </p:spTree>
    <p:extLst>
      <p:ext uri="{BB962C8B-B14F-4D97-AF65-F5344CB8AC3E}">
        <p14:creationId xmlns:p14="http://schemas.microsoft.com/office/powerpoint/2010/main" val="61488268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FBA75B4-2DD5-42EB-9397-F36BFB8BA723}"/>
              </a:ext>
            </a:extLst>
          </p:cNvPr>
          <p:cNvSpPr>
            <a:spLocks noGrp="1"/>
          </p:cNvSpPr>
          <p:nvPr>
            <p:ph type="title"/>
          </p:nvPr>
        </p:nvSpPr>
        <p:spPr/>
        <p:txBody>
          <a:bodyPr>
            <a:normAutofit fontScale="90000"/>
          </a:bodyPr>
          <a:lstStyle/>
          <a:p>
            <a:r>
              <a:rPr lang="en-US" sz="4400" b="1">
                <a:solidFill>
                  <a:schemeClr val="accent1"/>
                </a:solidFill>
                <a:latin typeface="Arial"/>
                <a:ea typeface="+mj-lt"/>
                <a:cs typeface="Arial"/>
              </a:rPr>
              <a:t>References</a:t>
            </a:r>
            <a:endParaRPr lang="en-US"/>
          </a:p>
        </p:txBody>
      </p:sp>
      <p:sp>
        <p:nvSpPr>
          <p:cNvPr id="2" name="Content Placeholder 1">
            <a:extLst>
              <a:ext uri="{FF2B5EF4-FFF2-40B4-BE49-F238E27FC236}">
                <a16:creationId xmlns:a16="http://schemas.microsoft.com/office/drawing/2014/main" id="{357C38BC-22B3-37B2-E0C3-812020A76077}"/>
              </a:ext>
            </a:extLst>
          </p:cNvPr>
          <p:cNvSpPr>
            <a:spLocks noGrp="1"/>
          </p:cNvSpPr>
          <p:nvPr>
            <p:ph idx="1"/>
          </p:nvPr>
        </p:nvSpPr>
        <p:spPr>
          <a:xfrm>
            <a:off x="581192" y="1302026"/>
            <a:ext cx="11029615" cy="4853818"/>
          </a:xfrm>
        </p:spPr>
        <p:txBody>
          <a:bodyPr>
            <a:normAutofit fontScale="92500"/>
          </a:bodyPr>
          <a:lstStyle/>
          <a:p>
            <a:r>
              <a:rPr lang="en-IN" sz="2400" dirty="0">
                <a:hlinkClick r:id="rId2"/>
              </a:rPr>
              <a:t>BERT: Pre-training of Deep Bidirectional Transformers for Language Understanding</a:t>
            </a:r>
            <a:r>
              <a:rPr lang="en-IN" sz="2400" dirty="0"/>
              <a:t> Jacob Devlin, Ming-Wei Chang, Kenton Lee, Kristina Toutanova (2018) </a:t>
            </a:r>
          </a:p>
          <a:p>
            <a:r>
              <a:rPr lang="en-IN" sz="2400" dirty="0">
                <a:hlinkClick r:id="rId3"/>
              </a:rPr>
              <a:t>Hugging Face Transformers Documentation</a:t>
            </a:r>
            <a:r>
              <a:rPr lang="en-IN" sz="2400" dirty="0"/>
              <a:t> Official documentation for BERT implementation and fine-tuning. </a:t>
            </a:r>
          </a:p>
          <a:p>
            <a:r>
              <a:rPr lang="en-IN" sz="2400" dirty="0" err="1">
                <a:hlinkClick r:id="rId4"/>
              </a:rPr>
              <a:t>PyTorch</a:t>
            </a:r>
            <a:r>
              <a:rPr lang="en-IN" sz="2400" dirty="0">
                <a:hlinkClick r:id="rId4"/>
              </a:rPr>
              <a:t> Documentation</a:t>
            </a:r>
            <a:r>
              <a:rPr lang="en-IN" sz="2400" dirty="0"/>
              <a:t> Official deep learning framework documentation. </a:t>
            </a:r>
          </a:p>
          <a:p>
            <a:r>
              <a:rPr lang="en-IN" sz="2400" dirty="0">
                <a:hlinkClick r:id="rId5"/>
              </a:rPr>
              <a:t>Scikit-learn Documentation</a:t>
            </a:r>
            <a:r>
              <a:rPr lang="en-IN" sz="2400" dirty="0"/>
              <a:t> Used for evaluation metrics such as Accuracy, Precision, Recall, F1-Score, and Confusion Matrix. </a:t>
            </a:r>
          </a:p>
          <a:p>
            <a:r>
              <a:rPr lang="en-IN" sz="2400" dirty="0">
                <a:hlinkClick r:id="rId6"/>
              </a:rPr>
              <a:t>Google </a:t>
            </a:r>
            <a:r>
              <a:rPr lang="en-IN" sz="2400" dirty="0" err="1">
                <a:hlinkClick r:id="rId6"/>
              </a:rPr>
              <a:t>Colab</a:t>
            </a:r>
            <a:r>
              <a:rPr lang="en-IN" sz="2400" dirty="0">
                <a:hlinkClick r:id="rId6"/>
              </a:rPr>
              <a:t> Documentation</a:t>
            </a:r>
            <a:r>
              <a:rPr lang="en-IN" sz="2400" dirty="0"/>
              <a:t> Development and execution environment used for model training and testing. </a:t>
            </a:r>
          </a:p>
          <a:p>
            <a:r>
              <a:rPr lang="en-IN" sz="2400" dirty="0"/>
              <a:t>Fake and Real News Dataset </a:t>
            </a:r>
            <a:r>
              <a:rPr lang="en-IN" sz="2400" u="sng" dirty="0">
                <a:solidFill>
                  <a:srgbClr val="92D050"/>
                </a:solidFill>
                <a:hlinkClick r:id="rId7"/>
              </a:rPr>
              <a:t>https://github.com/Reinforz/Fake-News-detection-with-ISOT-Dataset/blob/main/Fake_News_detection.ipynb</a:t>
            </a:r>
            <a:endParaRPr lang="en-IN" sz="2400" u="sng" dirty="0">
              <a:solidFill>
                <a:srgbClr val="92D050"/>
              </a:solidFill>
            </a:endParaRPr>
          </a:p>
        </p:txBody>
      </p:sp>
    </p:spTree>
    <p:extLst>
      <p:ext uri="{BB962C8B-B14F-4D97-AF65-F5344CB8AC3E}">
        <p14:creationId xmlns:p14="http://schemas.microsoft.com/office/powerpoint/2010/main" val="72895022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4D7422-ED9D-D856-C6AD-0F1A715C2428}"/>
              </a:ext>
            </a:extLst>
          </p:cNvPr>
          <p:cNvSpPr>
            <a:spLocks noGrp="1"/>
          </p:cNvSpPr>
          <p:nvPr>
            <p:ph type="title"/>
          </p:nvPr>
        </p:nvSpPr>
        <p:spPr/>
        <p:txBody>
          <a:bodyPr/>
          <a:lstStyle/>
          <a:p>
            <a:r>
              <a:rPr lang="en-IN" dirty="0"/>
              <a:t>Deployment link / </a:t>
            </a:r>
            <a:r>
              <a:rPr lang="en-IN" dirty="0" err="1"/>
              <a:t>github</a:t>
            </a:r>
            <a:r>
              <a:rPr lang="en-IN" dirty="0"/>
              <a:t> link</a:t>
            </a:r>
          </a:p>
        </p:txBody>
      </p:sp>
      <p:sp>
        <p:nvSpPr>
          <p:cNvPr id="3" name="Content Placeholder 2">
            <a:extLst>
              <a:ext uri="{FF2B5EF4-FFF2-40B4-BE49-F238E27FC236}">
                <a16:creationId xmlns:a16="http://schemas.microsoft.com/office/drawing/2014/main" id="{618C47C2-EF01-12B0-99EA-861F9629D1D9}"/>
              </a:ext>
            </a:extLst>
          </p:cNvPr>
          <p:cNvSpPr>
            <a:spLocks noGrp="1"/>
          </p:cNvSpPr>
          <p:nvPr>
            <p:ph idx="1"/>
          </p:nvPr>
        </p:nvSpPr>
        <p:spPr/>
        <p:txBody>
          <a:bodyPr/>
          <a:lstStyle/>
          <a:p>
            <a:r>
              <a:rPr lang="en-IN" dirty="0"/>
              <a:t>GitHub Link: </a:t>
            </a:r>
            <a:r>
              <a:rPr lang="en-IN" u="sng" dirty="0">
                <a:solidFill>
                  <a:srgbClr val="92D050"/>
                </a:solidFill>
              </a:rPr>
              <a:t>https://github.com/Skey9147/Fake-News-Detector-for-Students</a:t>
            </a:r>
          </a:p>
          <a:p>
            <a:r>
              <a:rPr lang="en-IN" dirty="0"/>
              <a:t>Deployment: Google </a:t>
            </a:r>
            <a:r>
              <a:rPr lang="en-IN" dirty="0" err="1"/>
              <a:t>Colab</a:t>
            </a:r>
            <a:endParaRPr lang="en-IN" dirty="0"/>
          </a:p>
        </p:txBody>
      </p:sp>
    </p:spTree>
    <p:extLst>
      <p:ext uri="{BB962C8B-B14F-4D97-AF65-F5344CB8AC3E}">
        <p14:creationId xmlns:p14="http://schemas.microsoft.com/office/powerpoint/2010/main" val="25885291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BE4CA82-64EC-4D4E-A5E5-3EBB66E7B24C}"/>
              </a:ext>
            </a:extLst>
          </p:cNvPr>
          <p:cNvSpPr>
            <a:spLocks noGrp="1"/>
          </p:cNvSpPr>
          <p:nvPr>
            <p:ph type="title"/>
          </p:nvPr>
        </p:nvSpPr>
        <p:spPr>
          <a:xfrm>
            <a:off x="1463041" y="2766218"/>
            <a:ext cx="9298744" cy="1325563"/>
          </a:xfrm>
        </p:spPr>
        <p:txBody>
          <a:bodyPr/>
          <a:lstStyle/>
          <a:p>
            <a:pPr algn="ctr"/>
            <a:r>
              <a:rPr lang="en-US" b="1">
                <a:solidFill>
                  <a:srgbClr val="002060"/>
                </a:solidFill>
                <a:latin typeface="Arial" panose="020B0604020202020204" pitchFamily="34" charset="0"/>
                <a:cs typeface="Arial" panose="020B0604020202020204" pitchFamily="34" charset="0"/>
              </a:rPr>
              <a:t>THANK YOU</a:t>
            </a:r>
          </a:p>
        </p:txBody>
      </p:sp>
    </p:spTree>
    <p:extLst>
      <p:ext uri="{BB962C8B-B14F-4D97-AF65-F5344CB8AC3E}">
        <p14:creationId xmlns:p14="http://schemas.microsoft.com/office/powerpoint/2010/main" val="4066255318"/>
      </p:ext>
    </p:extLst>
  </p:cSld>
  <p:clrMapOvr>
    <a:masterClrMapping/>
  </p:clrMapOvr>
</p:sld>
</file>

<file path=ppt/theme/theme1.xml><?xml version="1.0" encoding="utf-8"?>
<a:theme xmlns:a="http://schemas.openxmlformats.org/drawingml/2006/main" name="DividendVTI">
  <a:themeElements>
    <a:clrScheme name="Blue II">
      <a:dk1>
        <a:sysClr val="windowText" lastClr="000000"/>
      </a:dk1>
      <a:lt1>
        <a:sysClr val="window" lastClr="FFFFFF"/>
      </a:lt1>
      <a:dk2>
        <a:srgbClr val="335B74"/>
      </a:dk2>
      <a:lt2>
        <a:srgbClr val="DFE3E5"/>
      </a:lt2>
      <a:accent1>
        <a:srgbClr val="1CADE4"/>
      </a:accent1>
      <a:accent2>
        <a:srgbClr val="2683C6"/>
      </a:accent2>
      <a:accent3>
        <a:srgbClr val="27CED7"/>
      </a:accent3>
      <a:accent4>
        <a:srgbClr val="42BA97"/>
      </a:accent4>
      <a:accent5>
        <a:srgbClr val="3E8853"/>
      </a:accent5>
      <a:accent6>
        <a:srgbClr val="62A39F"/>
      </a:accent6>
      <a:hlink>
        <a:srgbClr val="6EAC1C"/>
      </a:hlink>
      <a:folHlink>
        <a:srgbClr val="B26B02"/>
      </a:folHlink>
    </a:clrScheme>
    <a:fontScheme name="Dividend">
      <a:majorFont>
        <a:latin typeface="Franklin Gothic Demi"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Franklin Gothic Book"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Dividend">
      <a:fillStyleLst>
        <a:solidFill>
          <a:schemeClr val="phClr"/>
        </a:solidFill>
        <a:gradFill rotWithShape="1">
          <a:gsLst>
            <a:gs pos="0">
              <a:schemeClr val="phClr">
                <a:tint val="68000"/>
                <a:alpha val="90000"/>
                <a:lumMod val="100000"/>
              </a:schemeClr>
            </a:gs>
            <a:gs pos="100000">
              <a:schemeClr val="phClr">
                <a:tint val="90000"/>
                <a:lumMod val="95000"/>
              </a:schemeClr>
            </a:gs>
          </a:gsLst>
          <a:lin ang="5400000" scaled="1"/>
        </a:gradFill>
        <a:gradFill rotWithShape="1">
          <a:gsLst>
            <a:gs pos="0">
              <a:schemeClr val="phClr">
                <a:tint val="98000"/>
                <a:lumMod val="110000"/>
              </a:schemeClr>
            </a:gs>
            <a:gs pos="84000">
              <a:schemeClr val="phClr">
                <a:shade val="90000"/>
                <a:lumMod val="88000"/>
              </a:schemeClr>
            </a:gs>
          </a:gsLst>
          <a:lin ang="5400000" scaled="0"/>
        </a:gradFill>
      </a:fillStyleLst>
      <a:lnStyleLst>
        <a:ln w="12700" cap="rnd" cmpd="sng" algn="ctr">
          <a:solidFill>
            <a:schemeClr val="phClr">
              <a:lumMod val="90000"/>
            </a:schemeClr>
          </a:solidFill>
          <a:prstDash val="solid"/>
        </a:ln>
        <a:ln w="2222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55000"/>
              </a:srgbClr>
            </a:outerShdw>
          </a:effectLst>
        </a:effectStyle>
        <a:effectStyle>
          <a:effectLst>
            <a:outerShdw blurRad="88900" dist="38100" dir="5040000" rotWithShape="0">
              <a:srgbClr val="000000">
                <a:alpha val="60000"/>
              </a:srgbClr>
            </a:outerShdw>
          </a:effectLst>
          <a:scene3d>
            <a:camera prst="orthographicFront">
              <a:rot lat="0" lon="0" rev="0"/>
            </a:camera>
            <a:lightRig rig="threePt" dir="tl">
              <a:rot lat="0" lon="0" rev="1200000"/>
            </a:lightRig>
          </a:scene3d>
          <a:sp3d>
            <a:bevelT w="38100" h="50800"/>
          </a:sp3d>
        </a:effectStyle>
      </a:effectStyleLst>
      <a:bgFillStyleLst>
        <a:solidFill>
          <a:schemeClr val="phClr"/>
        </a:solidFill>
        <a:gradFill rotWithShape="1">
          <a:gsLst>
            <a:gs pos="0">
              <a:schemeClr val="phClr">
                <a:tint val="90000"/>
                <a:lumMod val="110000"/>
              </a:schemeClr>
            </a:gs>
            <a:gs pos="88000">
              <a:schemeClr val="phClr">
                <a:shade val="94000"/>
                <a:satMod val="110000"/>
                <a:lumMod val="88000"/>
              </a:schemeClr>
            </a:gs>
          </a:gsLst>
          <a:lin ang="5400000" scaled="0"/>
        </a:gradFill>
        <a:gradFill rotWithShape="1">
          <a:gsLst>
            <a:gs pos="0">
              <a:schemeClr val="phClr">
                <a:tint val="90000"/>
                <a:lumMod val="110000"/>
              </a:schemeClr>
            </a:gs>
            <a:gs pos="100000">
              <a:schemeClr val="phClr">
                <a:shade val="98000"/>
                <a:satMod val="110000"/>
                <a:lumMod val="8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DividendVTI" id="{97558BDE-0B66-457C-BB6F-7B1B22DAA9B8}" vid="{F53508A3-AC60-448A-AF37-934D5F1A0D5E}"/>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MediaServiceKeyPoints xmlns="9162bd5b-4ed9-4da3-b376-05204580ba3f" xsi:nil="true"/>
    <_activity xmlns="9162bd5b-4ed9-4da3-b376-05204580ba3f"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0F1872188ABCFC48BECA6C87E8AC3285" ma:contentTypeVersion="17" ma:contentTypeDescription="Create a new document." ma:contentTypeScope="" ma:versionID="55a158675e089c6a85ab0f83b89e1a15">
  <xsd:schema xmlns:xsd="http://www.w3.org/2001/XMLSchema" xmlns:xs="http://www.w3.org/2001/XMLSchema" xmlns:p="http://schemas.microsoft.com/office/2006/metadata/properties" xmlns:ns3="9162bd5b-4ed9-4da3-b376-05204580ba3f" xmlns:ns4="c0fa2617-96bd-425d-8578-e93563fe37c5" targetNamespace="http://schemas.microsoft.com/office/2006/metadata/properties" ma:root="true" ma:fieldsID="b35f082308864fa161c4a0a9eca35eff" ns3:_="" ns4:_="">
    <xsd:import namespace="9162bd5b-4ed9-4da3-b376-05204580ba3f"/>
    <xsd:import namespace="c0fa2617-96bd-425d-8578-e93563fe37c5"/>
    <xsd:element name="properties">
      <xsd:complexType>
        <xsd:sequence>
          <xsd:element name="documentManagement">
            <xsd:complexType>
              <xsd:all>
                <xsd:element ref="ns3:MediaServiceMetadata" minOccurs="0"/>
                <xsd:element ref="ns3:MediaServiceFastMetadata" minOccurs="0"/>
                <xsd:element ref="ns4:SharedWithUsers" minOccurs="0"/>
                <xsd:element ref="ns4:SharedWithDetails" minOccurs="0"/>
                <xsd:element ref="ns4:SharingHintHash" minOccurs="0"/>
                <xsd:element ref="ns3:MediaServiceAutoTags" minOccurs="0"/>
                <xsd:element ref="ns3:MediaServiceOCR" minOccurs="0"/>
                <xsd:element ref="ns3:MediaServiceGenerationTime" minOccurs="0"/>
                <xsd:element ref="ns3:MediaServiceEventHashCode" minOccurs="0"/>
                <xsd:element ref="ns3:MediaServiceAutoKeyPoints" minOccurs="0"/>
                <xsd:element ref="ns3:MediaServiceKeyPoints" minOccurs="0"/>
                <xsd:element ref="ns3:MediaServiceDateTaken" minOccurs="0"/>
                <xsd:element ref="ns3:MediaLengthInSeconds" minOccurs="0"/>
                <xsd:element ref="ns3:MediaServiceLocation" minOccurs="0"/>
                <xsd:element ref="ns3:_activity" minOccurs="0"/>
                <xsd:element ref="ns3:MediaServiceObjectDetectorVersions" minOccurs="0"/>
                <xsd:element ref="ns3:MediaServiceSystem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9162bd5b-4ed9-4da3-b376-05204580ba3f"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3" nillable="true" ma:displayName="Tags" ma:internalName="MediaServiceAutoTags" ma:readOnly="true">
      <xsd:simpleType>
        <xsd:restriction base="dms:Text"/>
      </xsd:simpleType>
    </xsd:element>
    <xsd:element name="MediaServiceOCR" ma:index="14" nillable="true" ma:displayName="Extracted Text" ma:internalName="MediaServiceOCR" ma:readOnly="true">
      <xsd:simpleType>
        <xsd:restriction base="dms:Note">
          <xsd:maxLength value="255"/>
        </xsd:restriction>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ServiceAutoKeyPoints" ma:index="17" nillable="true" ma:displayName="MediaServiceAutoKeyPoints" ma:hidden="true" ma:internalName="MediaServiceAutoKeyPoints" ma:readOnly="true">
      <xsd:simpleType>
        <xsd:restriction base="dms:Note"/>
      </xsd:simpleType>
    </xsd:element>
    <xsd:element name="MediaServiceKeyPoints" ma:index="18" nillable="true" ma:displayName="KeyPoints" ma:internalName="MediaServiceKeyPoints" ma:readOnly="true">
      <xsd:simpleType>
        <xsd:restriction base="dms:Note">
          <xsd:maxLength value="255"/>
        </xsd:restriction>
      </xsd:simpleType>
    </xsd:element>
    <xsd:element name="MediaServiceDateTaken" ma:index="19" nillable="true" ma:displayName="MediaServiceDateTaken" ma:hidden="true" ma:internalName="MediaServiceDateTaken" ma:readOnly="true">
      <xsd:simpleType>
        <xsd:restriction base="dms:Text"/>
      </xsd:simpleType>
    </xsd:element>
    <xsd:element name="MediaLengthInSeconds" ma:index="20" nillable="true" ma:displayName="Length (seconds)" ma:internalName="MediaLengthInSeconds" ma:readOnly="true">
      <xsd:simpleType>
        <xsd:restriction base="dms:Unknown"/>
      </xsd:simpleType>
    </xsd:element>
    <xsd:element name="MediaServiceLocation" ma:index="21" nillable="true" ma:displayName="Location" ma:internalName="MediaServiceLocation" ma:readOnly="true">
      <xsd:simpleType>
        <xsd:restriction base="dms:Text"/>
      </xsd:simpleType>
    </xsd:element>
    <xsd:element name="_activity" ma:index="22" nillable="true" ma:displayName="_activity" ma:hidden="true" ma:internalName="_activity">
      <xsd:simpleType>
        <xsd:restriction base="dms:Note"/>
      </xsd:simpleType>
    </xsd:element>
    <xsd:element name="MediaServiceObjectDetectorVersions" ma:index="23" nillable="true" ma:displayName="MediaServiceObjectDetectorVersions" ma:description="" ma:hidden="true" ma:indexed="true" ma:internalName="MediaServiceObjectDetectorVersions" ma:readOnly="true">
      <xsd:simpleType>
        <xsd:restriction base="dms:Text"/>
      </xsd:simpleType>
    </xsd:element>
    <xsd:element name="MediaServiceSystemTags" ma:index="24" nillable="true" ma:displayName="MediaServiceSystemTags" ma:hidden="true" ma:internalName="MediaServiceSystemTag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c0fa2617-96bd-425d-8578-e93563fe37c5"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element name="SharingHintHash" ma:index="12" nillable="true" ma:displayName="Sharing Hint Hash"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927BD4C1-B6B1-4715-ABF9-E660A51A4EA0}">
  <ds:schemaRefs>
    <ds:schemaRef ds:uri="http://schemas.microsoft.com/sharepoint/v3/contenttype/forms"/>
  </ds:schemaRefs>
</ds:datastoreItem>
</file>

<file path=customXml/itemProps2.xml><?xml version="1.0" encoding="utf-8"?>
<ds:datastoreItem xmlns:ds="http://schemas.openxmlformats.org/officeDocument/2006/customXml" ds:itemID="{8D289AE2-D2AE-49D1-AFAC-3A79F6794255}">
  <ds:schemaRefs>
    <ds:schemaRef ds:uri="9162bd5b-4ed9-4da3-b376-05204580ba3f"/>
    <ds:schemaRef ds:uri="c0fa2617-96bd-425d-8578-e93563fe37c5"/>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customXml/itemProps3.xml><?xml version="1.0" encoding="utf-8"?>
<ds:datastoreItem xmlns:ds="http://schemas.openxmlformats.org/officeDocument/2006/customXml" ds:itemID="{6E816721-11E4-4989-8472-AB5A7EC20404}">
  <ds:schemaRefs>
    <ds:schemaRef ds:uri="9162bd5b-4ed9-4da3-b376-05204580ba3f"/>
    <ds:schemaRef ds:uri="c0fa2617-96bd-425d-8578-e93563fe37c5"/>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docProps/app.xml><?xml version="1.0" encoding="utf-8"?>
<Properties xmlns="http://schemas.openxmlformats.org/officeDocument/2006/extended-properties" xmlns:vt="http://schemas.openxmlformats.org/officeDocument/2006/docPropsVTypes">
  <Template>Future forward</Template>
  <TotalTime>567</TotalTime>
  <Words>909</Words>
  <Application>Microsoft Office PowerPoint</Application>
  <PresentationFormat>Widescreen</PresentationFormat>
  <Paragraphs>96</Paragraphs>
  <Slides>12</Slides>
  <Notes>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12</vt:i4>
      </vt:variant>
    </vt:vector>
  </HeadingPairs>
  <TitlesOfParts>
    <vt:vector size="19" baseType="lpstr">
      <vt:lpstr>Arial</vt:lpstr>
      <vt:lpstr>Calibri</vt:lpstr>
      <vt:lpstr>Calibri Light</vt:lpstr>
      <vt:lpstr>Franklin Gothic Book</vt:lpstr>
      <vt:lpstr>Franklin Gothic Demi</vt:lpstr>
      <vt:lpstr>Wingdings 2</vt:lpstr>
      <vt:lpstr>DividendVTI</vt:lpstr>
      <vt:lpstr>Fake News Detector for Students</vt:lpstr>
      <vt:lpstr>OUTLINE</vt:lpstr>
      <vt:lpstr>Problem Statement</vt:lpstr>
      <vt:lpstr>Proposed Solution</vt:lpstr>
      <vt:lpstr>System  Approach</vt:lpstr>
      <vt:lpstr>Algorithm &amp; Deployment</vt:lpstr>
      <vt:lpstr>Result</vt:lpstr>
      <vt:lpstr>Conclusion</vt:lpstr>
      <vt:lpstr>PowerPoint Presentation</vt:lpstr>
      <vt:lpstr>References</vt:lpstr>
      <vt:lpstr>Deployment link / github link</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SkillsBuild Partner Update template</dc:title>
  <dc:creator>Vaibhav Ostwal</dc:creator>
  <cp:lastModifiedBy>Sourashis Dey</cp:lastModifiedBy>
  <cp:revision>35</cp:revision>
  <dcterms:created xsi:type="dcterms:W3CDTF">2021-05-26T16:50:10Z</dcterms:created>
  <dcterms:modified xsi:type="dcterms:W3CDTF">2026-06-25T13:48:59Z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0x0101000F1872188ABCFC48BECA6C87E8AC3285</vt:lpwstr>
  </property>
</Properties>
</file>